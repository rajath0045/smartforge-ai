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e989a8e0ca245ca" /><Relationship Type="http://schemas.openxmlformats.org/officeDocument/2006/relationships/extended-properties" Target="/docProps/app.xml" Id="Rcac36321a3be499c" /><Relationship Type="http://schemas.openxmlformats.org/officeDocument/2006/relationships/officeDocument" Target="/ppt/presentation.xml" Id="R777991033f914703" /></Relationships>
</file>

<file path=ppt/presentation.xml><?xml version="1.0" encoding="utf-8"?>
<p:presentation xmlns:p="http://schemas.openxmlformats.org/presentationml/2006/main">
  <p:sldMasterIdLst>
    <p:sldMasterId xmlns:r="http://schemas.openxmlformats.org/officeDocument/2006/relationships" id="2147483648" r:id="R7b7fc20f5dd54a70"/>
  </p:sldMasterIdLst>
  <p:notesMasterIdLst>
    <p:notesMasterId xmlns:r="http://schemas.openxmlformats.org/officeDocument/2006/relationships" r:id="R3b3ec1b4f70f49d9"/>
  </p:notesMasterIdLst>
  <p:sldIdLst>
    <p:sldId xmlns:r="http://schemas.openxmlformats.org/officeDocument/2006/relationships" id="256" r:id="R13f8a82fb0de431c"/>
    <p:sldId xmlns:r="http://schemas.openxmlformats.org/officeDocument/2006/relationships" id="257" r:id="Rb3dde4ba1c554cb8"/>
    <p:sldId xmlns:r="http://schemas.openxmlformats.org/officeDocument/2006/relationships" id="258" r:id="Rb06acbe4b0184f76"/>
    <p:sldId xmlns:r="http://schemas.openxmlformats.org/officeDocument/2006/relationships" id="259" r:id="R65c6bea1261d4d45"/>
    <p:sldId xmlns:r="http://schemas.openxmlformats.org/officeDocument/2006/relationships" id="260" r:id="R3e79fc28b9a5421c"/>
    <p:sldId xmlns:r="http://schemas.openxmlformats.org/officeDocument/2006/relationships" id="261" r:id="Refcf84c97f4e4878"/>
    <p:sldId xmlns:r="http://schemas.openxmlformats.org/officeDocument/2006/relationships" id="262" r:id="R4bee4b1886db4544"/>
    <p:sldId xmlns:r="http://schemas.openxmlformats.org/officeDocument/2006/relationships" id="263" r:id="R80d41204361c4568"/>
    <p:sldId xmlns:r="http://schemas.openxmlformats.org/officeDocument/2006/relationships" id="264" r:id="Rd219d71940e343d5"/>
    <p:sldId xmlns:r="http://schemas.openxmlformats.org/officeDocument/2006/relationships" id="265" r:id="Rff7826492d62450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e4bbe5c09794adb" /><Relationship Type="http://schemas.openxmlformats.org/officeDocument/2006/relationships/slideMaster" Target="/ppt/slideMasters/slideMaster1.xml" Id="R7b7fc20f5dd54a70" /><Relationship Type="http://schemas.openxmlformats.org/officeDocument/2006/relationships/notesMaster" Target="/ppt/notesMasters/notesMaster1.xml" Id="R3b3ec1b4f70f49d9" /><Relationship Type="http://schemas.openxmlformats.org/officeDocument/2006/relationships/presProps" Target="/ppt/presProps.xml" Id="R69460db7d954439a" /><Relationship Type="http://schemas.openxmlformats.org/officeDocument/2006/relationships/tableStyles" Target="/ppt/tableStyles.xml" Id="Rf3faea1d6cc849f6" /><Relationship Type="http://schemas.openxmlformats.org/officeDocument/2006/relationships/slide" Target="/ppt/slides/slide1.xml" Id="R13f8a82fb0de431c" /><Relationship Type="http://schemas.openxmlformats.org/officeDocument/2006/relationships/slide" Target="/ppt/slides/slide2.xml" Id="Rb3dde4ba1c554cb8" /><Relationship Type="http://schemas.openxmlformats.org/officeDocument/2006/relationships/slide" Target="/ppt/slides/slide3.xml" Id="Rb06acbe4b0184f76" /><Relationship Type="http://schemas.openxmlformats.org/officeDocument/2006/relationships/slide" Target="/ppt/slides/slide4.xml" Id="R65c6bea1261d4d45" /><Relationship Type="http://schemas.openxmlformats.org/officeDocument/2006/relationships/slide" Target="/ppt/slides/slide5.xml" Id="R3e79fc28b9a5421c" /><Relationship Type="http://schemas.openxmlformats.org/officeDocument/2006/relationships/slide" Target="/ppt/slides/slide6.xml" Id="Refcf84c97f4e4878" /><Relationship Type="http://schemas.openxmlformats.org/officeDocument/2006/relationships/slide" Target="/ppt/slides/slide7.xml" Id="R4bee4b1886db4544" /><Relationship Type="http://schemas.openxmlformats.org/officeDocument/2006/relationships/slide" Target="/ppt/slides/slide8.xml" Id="R80d41204361c4568" /><Relationship Type="http://schemas.openxmlformats.org/officeDocument/2006/relationships/slide" Target="/ppt/slides/slide9.xml" Id="Rd219d71940e343d5" /><Relationship Type="http://schemas.openxmlformats.org/officeDocument/2006/relationships/slide" Target="/ppt/slides/slide10.xml" Id="Rff7826492d62450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0d5014ea6f94c9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17b09f2b53d4b83" /><Relationship Type="http://schemas.openxmlformats.org/officeDocument/2006/relationships/notesMaster" Target="/ppt/notesMasters/notesMaster1.xml" Id="R9ac23da7cd024138" /></Relationships>
</file>

<file path=ppt/notesSlides/_rels/notesSlide2.xml.rels>&#65279;<?xml version="1.0" encoding="utf-8"?><Relationships xmlns="http://schemas.openxmlformats.org/package/2006/relationships"><Relationship Type="http://schemas.openxmlformats.org/officeDocument/2006/relationships/slide" Target="/ppt/slides/slide2.xml" Id="R378dae98f40c4e9e" /><Relationship Type="http://schemas.openxmlformats.org/officeDocument/2006/relationships/notesMaster" Target="/ppt/notesMasters/notesMaster1.xml" Id="R5dd967ed2db54a06" /></Relationships>
</file>

<file path=ppt/notesSlides/_rels/notesSlide3.xml.rels>&#65279;<?xml version="1.0" encoding="utf-8"?><Relationships xmlns="http://schemas.openxmlformats.org/package/2006/relationships"><Relationship Type="http://schemas.openxmlformats.org/officeDocument/2006/relationships/slide" Target="/ppt/slides/slide3.xml" Id="R0e25848535ea4d65" /><Relationship Type="http://schemas.openxmlformats.org/officeDocument/2006/relationships/notesMaster" Target="/ppt/notesMasters/notesMaster1.xml" Id="Reb2247b22af54683" /></Relationships>
</file>

<file path=ppt/notesSlides/_rels/notesSlide4.xml.rels>&#65279;<?xml version="1.0" encoding="utf-8"?><Relationships xmlns="http://schemas.openxmlformats.org/package/2006/relationships"><Relationship Type="http://schemas.openxmlformats.org/officeDocument/2006/relationships/slide" Target="/ppt/slides/slide4.xml" Id="Rcd6b3f8229a5410d" /><Relationship Type="http://schemas.openxmlformats.org/officeDocument/2006/relationships/notesMaster" Target="/ppt/notesMasters/notesMaster1.xml" Id="R6a126db764c24b92" /></Relationships>
</file>

<file path=ppt/notesSlides/_rels/notesSlide5.xml.rels>&#65279;<?xml version="1.0" encoding="utf-8"?><Relationships xmlns="http://schemas.openxmlformats.org/package/2006/relationships"><Relationship Type="http://schemas.openxmlformats.org/officeDocument/2006/relationships/slide" Target="/ppt/slides/slide5.xml" Id="R840488001b4641f0" /><Relationship Type="http://schemas.openxmlformats.org/officeDocument/2006/relationships/notesMaster" Target="/ppt/notesMasters/notesMaster1.xml" Id="R39bf72a119b0463e" /></Relationships>
</file>

<file path=ppt/notesSlides/_rels/notesSlide6.xml.rels>&#65279;<?xml version="1.0" encoding="utf-8"?><Relationships xmlns="http://schemas.openxmlformats.org/package/2006/relationships"><Relationship Type="http://schemas.openxmlformats.org/officeDocument/2006/relationships/slide" Target="/ppt/slides/slide6.xml" Id="Rb7fb7c95133643af" /><Relationship Type="http://schemas.openxmlformats.org/officeDocument/2006/relationships/notesMaster" Target="/ppt/notesMasters/notesMaster1.xml" Id="Rfa9fd51a41df45ba" /></Relationships>
</file>

<file path=ppt/notesSlides/_rels/notesSlide7.xml.rels>&#65279;<?xml version="1.0" encoding="utf-8"?><Relationships xmlns="http://schemas.openxmlformats.org/package/2006/relationships"><Relationship Type="http://schemas.openxmlformats.org/officeDocument/2006/relationships/slide" Target="/ppt/slides/slide7.xml" Id="R6ef5cc3be7094eca" /><Relationship Type="http://schemas.openxmlformats.org/officeDocument/2006/relationships/notesMaster" Target="/ppt/notesMasters/notesMaster1.xml" Id="Rafa3a3819849419c" /></Relationships>
</file>

<file path=ppt/notesSlides/_rels/notesSlide8.xml.rels>&#65279;<?xml version="1.0" encoding="utf-8"?><Relationships xmlns="http://schemas.openxmlformats.org/package/2006/relationships"><Relationship Type="http://schemas.openxmlformats.org/officeDocument/2006/relationships/slide" Target="/ppt/slides/slide8.xml" Id="R021540b121c54dc8" /><Relationship Type="http://schemas.openxmlformats.org/officeDocument/2006/relationships/notesMaster" Target="/ppt/notesMasters/notesMaster1.xml" Id="Rd1765e220f8a4a7a" /></Relationships>
</file>

<file path=ppt/notesSlides/_rels/notesSlide9.xml.rels>&#65279;<?xml version="1.0" encoding="utf-8"?><Relationships xmlns="http://schemas.openxmlformats.org/package/2006/relationships"><Relationship Type="http://schemas.openxmlformats.org/officeDocument/2006/relationships/slide" Target="/ppt/slides/slide9.xml" Id="Rc32a476d7d6f46ee" /><Relationship Type="http://schemas.openxmlformats.org/officeDocument/2006/relationships/notesMaster" Target="/ppt/notesMasters/notesMaster1.xml" Id="R939b2a3ced8242d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d458192bde04731" /><Relationship Type="http://schemas.openxmlformats.org/officeDocument/2006/relationships/notesMaster" Target="/ppt/notesMasters/notesMaster1.xml" Id="R048bfd5c952c405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decision problem: SmartForge turns one constrained machine-shop state into a feasible two-week schedule and explains the delivery, capacity, risk and profit impact. Emphasize that optimization and transparent rules—not an unexplained AI score—drive the core decisions.</a:t>
            </a:r>
          </a:p>
          <a:p xmlns:a="http://schemas.openxmlformats.org/drawingml/2006/main">
            <a:r>
              <a:t/>
            </a:r>
          </a:p>
          <a:p xmlns:a="http://schemas.openxmlformats.org/drawingml/2006/main">
            <a:r>
              <a:t>[Sources]</a:t>
            </a:r>
          </a:p>
          <a:p xmlns:a="http://schemas.openxmlformats.org/drawingml/2006/main">
            <a:r>
              <a:t>- README.md — project overview and seeded demo data</a:t>
            </a:r>
          </a:p>
          <a:p xmlns:a="http://schemas.openxmlformats.org/drawingml/2006/main">
            <a:r>
              <a:t>- Local SmartForge /dashboard capture — deterministic demo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why aggregate available hours are insufficient. A machine slot only becomes usable capacity when a qualified operator, released material, allowed calendar, valid predecessor sequence and power source exist at the same time. Use GRIND-01 as the concrete bottleneck example.</a:t>
            </a:r>
          </a:p>
          <a:p xmlns:a="http://schemas.openxmlformats.org/drawingml/2006/main">
            <a:r>
              <a:t/>
            </a:r>
          </a:p>
          <a:p xmlns:a="http://schemas.openxmlformats.org/drawingml/2006/main">
            <a:r>
              <a:t>[Sources]</a:t>
            </a:r>
          </a:p>
          <a:p xmlns:a="http://schemas.openxmlformats.org/drawingml/2006/main">
            <a:r>
              <a:t>- README.md — business problem and factory scenario</a:t>
            </a:r>
          </a:p>
          <a:p xmlns:a="http://schemas.openxmlformats.org/drawingml/2006/main">
            <a:r>
              <a:t>- Local SmartForge /control-tower capture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key architecture choice is consistency. SQLAlchemy records are adapted into immutable planning-domain objects. The optimizer remains independent of HTTP and persistence, while RFQ, risk, financial, capacity and replanning services reuse the same domain and validator.</a:t>
            </a:r>
          </a:p>
          <a:p xmlns:a="http://schemas.openxmlformats.org/drawingml/2006/main">
            <a:r>
              <a:t/>
            </a:r>
          </a:p>
          <a:p xmlns:a="http://schemas.openxmlformats.org/drawingml/2006/main">
            <a:r>
              <a:t>[Sources]</a:t>
            </a:r>
          </a:p>
          <a:p xmlns:a="http://schemas.openxmlformats.org/drawingml/2006/main">
            <a:r>
              <a:t>- docs/architecture.md</a:t>
            </a:r>
          </a:p>
          <a:p xmlns:a="http://schemas.openxmlformats.org/drawingml/2006/main">
            <a:r>
              <a:t>- README.md — system architecture</a:t>
            </a:r>
          </a:p>
          <a:p xmlns:a="http://schemas.openxmlformats.org/drawingml/2006/main">
            <a:r>
              <a:t>- backend/app/optimizer/domain.py and backend/app/services/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conceptual decision variables: select one compatible machine/operator alternative and one start/end interval for each unfinished operation. CP-SAT enforces no-overlap, precedence, capability, skills, shifts, maintenance, breakdowns, material, power, generator capacity and sequence-dependent changes. A deterministic heuristic is the interactive fallback, and both outputs pass the independent validator.</a:t>
            </a:r>
          </a:p>
          <a:p xmlns:a="http://schemas.openxmlformats.org/drawingml/2006/main">
            <a:r>
              <a:t/>
            </a:r>
          </a:p>
          <a:p xmlns:a="http://schemas.openxmlformats.org/drawingml/2006/main">
            <a:r>
              <a:t>[Sources]</a:t>
            </a:r>
          </a:p>
          <a:p xmlns:a="http://schemas.openxmlformats.org/drawingml/2006/main">
            <a:r>
              <a:t>- docs/scheduling-model.md</a:t>
            </a:r>
          </a:p>
          <a:p xmlns:a="http://schemas.openxmlformats.org/drawingml/2006/main">
            <a:r>
              <a:t>- backend/app/optimizer/scheduler.py</a:t>
            </a:r>
          </a:p>
          <a:p xmlns:a="http://schemas.openxmlformats.org/drawingml/2006/main">
            <a:r>
              <a:t>- backend/app/optimizer/validator.py</a:t>
            </a:r>
          </a:p>
          <a:p xmlns:a="http://schemas.openxmlformats.org/drawingml/2006/main">
            <a:r>
              <a:t>- Local SmartForge /schedule capture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seeded Apex Driveline RFQ. The request is temporarily inserted into the current constrained state, not an empty factory. Explain that the decision combines feasibility, delivery confidence, recovery costs, contribution and displacement penalties. The displayed result is generated locally when the API is unavailable and is reproducible from the seeded demo inputs.</a:t>
            </a:r>
          </a:p>
          <a:p xmlns:a="http://schemas.openxmlformats.org/drawingml/2006/main">
            <a:r>
              <a:t/>
            </a:r>
          </a:p>
          <a:p xmlns:a="http://schemas.openxmlformats.org/drawingml/2006/main">
            <a:r>
              <a:t>[Sources]</a:t>
            </a:r>
          </a:p>
          <a:p xmlns:a="http://schemas.openxmlformats.org/drawingml/2006/main">
            <a:r>
              <a:t>- backend/app/services/rfq.py</a:t>
            </a:r>
          </a:p>
          <a:p xmlns:a="http://schemas.openxmlformats.org/drawingml/2006/main">
            <a:r>
              <a:t>- frontend/src/services/api.ts — deterministic RFQ fallback</a:t>
            </a:r>
          </a:p>
          <a:p xmlns:a="http://schemas.openxmlformats.org/drawingml/2006/main">
            <a:r>
              <a:t>- Local SmartForge /acceptance capture after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Risk is not only a severity label. SmartForge combines probability, financial impact, affected orders and timing. Capacity is calculated at both resource and qualified-skill level; a free grinder is not usable capacity when all grinder-qualified operators are unavailable.</a:t>
            </a:r>
          </a:p>
          <a:p xmlns:a="http://schemas.openxmlformats.org/drawingml/2006/main">
            <a:r>
              <a:t/>
            </a:r>
          </a:p>
          <a:p xmlns:a="http://schemas.openxmlformats.org/drawingml/2006/main">
            <a:r>
              <a:t>[Sources]</a:t>
            </a:r>
          </a:p>
          <a:p xmlns:a="http://schemas.openxmlformats.org/drawingml/2006/main">
            <a:r>
              <a:t>- README.md — risk analysis and capacity planning</a:t>
            </a:r>
          </a:p>
          <a:p xmlns:a="http://schemas.openxmlformats.org/drawingml/2006/main">
            <a:r>
              <a:t>- backend/app/services/capacity.py</a:t>
            </a:r>
          </a:p>
          <a:p xmlns:a="http://schemas.openxmlformats.org/drawingml/2006/main">
            <a:r>
              <a:t>- Local SmartForge /risks and /capacity captures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the eight-hour GRIND-01 failure with OP-15 absent. Completed and unaffected in-progress work remain frozen. The revised plan blocks lost capacity, regenerates only unfinished work, validates the result and reports moved jobs, resource changes, overtime, penalties and lost output. The Owner's Next Call converts the result into a coordination action.</a:t>
            </a:r>
          </a:p>
          <a:p xmlns:a="http://schemas.openxmlformats.org/drawingml/2006/main">
            <a:r>
              <a:t/>
            </a:r>
          </a:p>
          <a:p xmlns:a="http://schemas.openxmlformats.org/drawingml/2006/main">
            <a:r>
              <a:t>[Sources]</a:t>
            </a:r>
          </a:p>
          <a:p xmlns:a="http://schemas.openxmlformats.org/drawingml/2006/main">
            <a:r>
              <a:t>- backend/app/services/replanning.py</a:t>
            </a:r>
          </a:p>
          <a:p xmlns:a="http://schemas.openxmlformats.org/drawingml/2006/main">
            <a:r>
              <a:t>- frontend/src/services/api.ts — deterministic disruption fallback</a:t>
            </a:r>
          </a:p>
          <a:p xmlns:a="http://schemas.openxmlformats.org/drawingml/2006/main">
            <a:r>
              <a:t>- Local SmartForge /disruptions capture after replanning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the three explicit policies. Cheapest returns ₹23.1L expected profit but only 84% on-time delivery and 3% reserve. Most On-Time reaches 98% service with more cost. Most Robust preserves 95% service and 14% reserve at ₹22.9L expected profit. The recommendation makes the trade-off visible rather than collapsing it into one unexplained score.</a:t>
            </a:r>
          </a:p>
          <a:p xmlns:a="http://schemas.openxmlformats.org/drawingml/2006/main">
            <a:r>
              <a:t/>
            </a:r>
          </a:p>
          <a:p xmlns:a="http://schemas.openxmlformats.org/drawingml/2006/main">
            <a:r>
              <a:t>[Sources]</a:t>
            </a:r>
          </a:p>
          <a:p xmlns:a="http://schemas.openxmlformats.org/drawingml/2006/main">
            <a:r>
              <a:t>- frontend/src/data/demo.ts — plans array</a:t>
            </a:r>
          </a:p>
          <a:p xmlns:a="http://schemas.openxmlformats.org/drawingml/2006/main">
            <a:r>
              <a:t>- backend/app/services/comparison.py</a:t>
            </a:r>
          </a:p>
          <a:p xmlns:a="http://schemas.openxmlformats.org/drawingml/2006/main">
            <a:r>
              <a:t>- Local SmartForge /plan-comparison capture used for verification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frontend is workflow-oriented. Managers see service and financial exposure, planners see capacity and schedules, maintenance sees health priorities, and supervisors receive an execution board. The shared design system uses typed API adapters, responsive layouts and deterministic demo fallbacks without changing backend contracts.</a:t>
            </a:r>
          </a:p>
          <a:p xmlns:a="http://schemas.openxmlformats.org/drawingml/2006/main">
            <a:r>
              <a:t/>
            </a:r>
          </a:p>
          <a:p xmlns:a="http://schemas.openxmlformats.org/drawingml/2006/main">
            <a:r>
              <a:t>[Sources]</a:t>
            </a:r>
          </a:p>
          <a:p xmlns:a="http://schemas.openxmlformats.org/drawingml/2006/main">
            <a:r>
              <a:t>- README.md — application pages and design/UI</a:t>
            </a:r>
          </a:p>
          <a:p xmlns:a="http://schemas.openxmlformats.org/drawingml/2006/main">
            <a:r>
              <a:t>- frontend/src/pages/ and frontend/src/components/</a:t>
            </a:r>
          </a:p>
          <a:p xmlns:a="http://schemas.openxmlformats.org/drawingml/2006/main">
            <a:r>
              <a:t>- Local SmartForge dashboard, capacity and machine-health captures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returning to the engineering contribution: not a dashboard or solver in isolation, but the connection between a validated finite-capacity plan and an explainable action—accepting an order, protecting a promise, authorizing overtime or generator use, recovering from a failure or investing in constrained capacity. State the limits clearly: generated data, deterministic risk rules and no live factory control.</a:t>
            </a:r>
          </a:p>
          <a:p xmlns:a="http://schemas.openxmlformats.org/drawingml/2006/main">
            <a:r>
              <a:t/>
            </a:r>
          </a:p>
          <a:p xmlns:a="http://schemas.openxmlformats.org/drawingml/2006/main">
            <a:r>
              <a:t>[Sources]</a:t>
            </a:r>
          </a:p>
          <a:p xmlns:a="http://schemas.openxmlformats.org/drawingml/2006/main">
            <a:r>
              <a:t>- docs/project-presentation-and-approach.md — suggested closing statement</a:t>
            </a:r>
          </a:p>
          <a:p xmlns:a="http://schemas.openxmlformats.org/drawingml/2006/main">
            <a:r>
              <a:t>- docs/assumptions.md</a:t>
            </a:r>
          </a:p>
          <a:p xmlns:a="http://schemas.openxmlformats.org/drawingml/2006/main">
            <a:r>
              <a:t>- README.md — limitations and future enhancements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c6aaddf63644b6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e875ed6fe8a495a" /><Relationship Type="http://schemas.openxmlformats.org/officeDocument/2006/relationships/slideLayout" Target="/ppt/slideLayouts/slideLayout1.xml" Id="R6abc1e6531a3456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bc1e6531a3456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39b4961cd9446d1" /><Relationship Type="http://schemas.openxmlformats.org/officeDocument/2006/relationships/image" Target="/ppt/media/image.jpeg" Id="R75555a2f08a748a9" /><Relationship Type="http://schemas.openxmlformats.org/officeDocument/2006/relationships/notesSlide" Target="/ppt/notesSlides/notesSlide1.xml" Id="Ra057f2b16f55426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b676878166b4f93" /><Relationship Type="http://schemas.openxmlformats.org/officeDocument/2006/relationships/image" Target="/ppt/media/image2.jpeg" Id="Rbbd92470d62d4c0d" /><Relationship Type="http://schemas.openxmlformats.org/officeDocument/2006/relationships/notesSlide" Target="/ppt/notesSlides/notesSlide2.xml" Id="R90283ab4fda6400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30f406509694be5" /><Relationship Type="http://schemas.openxmlformats.org/officeDocument/2006/relationships/notesSlide" Target="/ppt/notesSlides/notesSlide3.xml" Id="R00b333d7a35d44c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f1d669c261649a5" /><Relationship Type="http://schemas.openxmlformats.org/officeDocument/2006/relationships/image" Target="/ppt/media/image3.jpeg" Id="R22505cffb14b4cea" /><Relationship Type="http://schemas.openxmlformats.org/officeDocument/2006/relationships/notesSlide" Target="/ppt/notesSlides/notesSlide4.xml" Id="R1569e6a8a2d3451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b56fdde8747498a" /><Relationship Type="http://schemas.openxmlformats.org/officeDocument/2006/relationships/image" Target="/ppt/media/image4.jpeg" Id="R1f3ee76a5bfa499d" /><Relationship Type="http://schemas.openxmlformats.org/officeDocument/2006/relationships/notesSlide" Target="/ppt/notesSlides/notesSlide5.xml" Id="R07bf435838f6486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2ef8fd898094024" /><Relationship Type="http://schemas.openxmlformats.org/officeDocument/2006/relationships/image" Target="/ppt/media/image5.jpeg" Id="R3b5ab6edf58e4a8d" /><Relationship Type="http://schemas.openxmlformats.org/officeDocument/2006/relationships/image" Target="/ppt/media/image6.jpeg" Id="R7ad648a195264349" /><Relationship Type="http://schemas.openxmlformats.org/officeDocument/2006/relationships/notesSlide" Target="/ppt/notesSlides/notesSlide6.xml" Id="Rede4b0eecc0d458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04ba316f8fd4502" /><Relationship Type="http://schemas.openxmlformats.org/officeDocument/2006/relationships/image" Target="/ppt/media/image7.jpeg" Id="R4462b20592504a66" /><Relationship Type="http://schemas.openxmlformats.org/officeDocument/2006/relationships/notesSlide" Target="/ppt/notesSlides/notesSlide7.xml" Id="Rde3bdd5aa2fb402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a1cabebef974749" /><Relationship Type="http://schemas.openxmlformats.org/officeDocument/2006/relationships/chart" Target="/ppt/slides/charts/chart1.xml" Id="R84a5ae0d17414cdc" /><Relationship Type="http://schemas.openxmlformats.org/officeDocument/2006/relationships/notesSlide" Target="/ppt/notesSlides/notesSlide8.xml" Id="R090cc3e847aa44c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2a2a442fe3849e3" /><Relationship Type="http://schemas.openxmlformats.org/officeDocument/2006/relationships/image" Target="/ppt/media/image8.jpeg" Id="Rc13c0b7ee8da4e29" /><Relationship Type="http://schemas.openxmlformats.org/officeDocument/2006/relationships/image" Target="/ppt/media/image9.jpeg" Id="Rfb2d7b9abd6c4151" /><Relationship Type="http://schemas.openxmlformats.org/officeDocument/2006/relationships/image" Target="/ppt/media/image10.jpeg" Id="Re3e6dd8771264f40" /><Relationship Type="http://schemas.openxmlformats.org/officeDocument/2006/relationships/notesSlide" Target="/ppt/notesSlides/notesSlide9.xml" Id="R9cfd5503e3b1496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13c91cd4b534c6a" /><Relationship Type="http://schemas.openxmlformats.org/officeDocument/2006/relationships/image" Target="/ppt/media/image11.jpeg" Id="R2ac7e003e8cb438c" /><Relationship Type="http://schemas.openxmlformats.org/officeDocument/2006/relationships/notesSlide" Target="/ppt/notesSlides/notesSlide10.xml" Id="R26bb16b9f6dc4410" /></Relationships>
</file>

<file path=ppt/slides/charts/chart1.xml><?xml version="1.0" encoding="utf-8"?>
<c:chartSpace xmlns:c="http://schemas.openxmlformats.org/drawingml/2006/chart">
  <c:lang val="en-US"/>
  <c:chart>
    <c:plotArea>
      <c:barChart>
        <c:barDir val="col"/>
        <c:grouping val="clustered"/>
        <c:varyColors val="0"/>
        <c:ser>
          <c:idx val="0"/>
          <c:order val="0"/>
          <c:tx>
            <c:v>On-time delivery</c:v>
          </c:tx>
          <c:spPr>
            <a:solidFill xmlns:a="http://schemas.openxmlformats.org/drawingml/2006/main">
              <a:srgbClr val="C9A86A"/>
            </a:solidFill>
          </c:spPr>
          <c:cat>
            <c:strLit>
              <c:ptCount val="3"/>
              <c:pt idx="0">
                <c:v>Cheapest</c:v>
              </c:pt>
              <c:pt idx="1">
                <c:v>Most On-Time</c:v>
              </c:pt>
              <c:pt idx="2">
                <c:v>Most Robust</c:v>
              </c:pt>
            </c:strLit>
          </c:cat>
          <c:val>
            <c:numLit>
              <c:formatCode>0</c:formatCode>
              <c:ptCount val="3"/>
              <c:pt idx="0">
                <c:v>84</c:v>
              </c:pt>
              <c:pt idx="1">
                <c:v>98</c:v>
              </c:pt>
              <c:pt idx="2">
                <c:v>95</c:v>
              </c:pt>
            </c:numLit>
          </c:val>
        </c:ser>
        <c:ser>
          <c:idx val="1"/>
          <c:order val="1"/>
          <c:tx>
            <c:v>Reserve capacity</c:v>
          </c:tx>
          <c:spPr>
            <a:solidFill xmlns:a="http://schemas.openxmlformats.org/drawingml/2006/main">
              <a:srgbClr val="78A984"/>
            </a:solidFill>
          </c:spPr>
          <c:cat>
            <c:strLit>
              <c:ptCount val="3"/>
              <c:pt idx="0">
                <c:v>Cheapest</c:v>
              </c:pt>
              <c:pt idx="1">
                <c:v>Most On-Time</c:v>
              </c:pt>
              <c:pt idx="2">
                <c:v>Most Robust</c:v>
              </c:pt>
            </c:strLit>
          </c:cat>
          <c:val>
            <c:numLit>
              <c:formatCode>0</c:formatCode>
              <c:ptCount val="3"/>
              <c:pt idx="0">
                <c:v>3</c:v>
              </c:pt>
              <c:pt idx="1">
                <c:v>5</c:v>
              </c:pt>
              <c:pt idx="2">
                <c:v>14</c:v>
              </c:pt>
            </c:numLit>
          </c:val>
        </c:ser>
        <c:dLbls>
          <c:txPr>
            <a:bodyPr xmlns:a="http://schemas.openxmlformats.org/drawingml/2006/main" anchorCtr="1"/>
            <a:lstStyle xmlns:a="http://schemas.openxmlformats.org/drawingml/2006/main"/>
            <a:p xmlns:a="http://schemas.openxmlformats.org/drawingml/2006/main">
              <a:pPr>
                <a:defRPr sz="975" b="1">
                  <a:solidFill>
                    <a:srgbClr val="F4F0E6"/>
                  </a:solidFill>
                </a:defRPr>
              </a:pPr>
            </a:p>
          </c:txPr>
          <c:dLblPos val="outEnd"/>
          <c:showLegendKey val="0"/>
          <c:showVal val="1"/>
          <c:showCatName val="0"/>
          <c:showSerName val="0"/>
          <c:showPercent val="0"/>
          <c:showBubbleSize val="0"/>
          <c:showLeaderLines val="0"/>
        </c:dLbls>
        <c:gapWidth val="68"/>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303731"/>
            </a:solidFill>
            <a:prstDash val="solid"/>
          </a:ln>
        </c:spPr>
        <c:txPr>
          <a:bodyPr xmlns:a="http://schemas.openxmlformats.org/drawingml/2006/main" anchorCtr="1"/>
          <a:lstStyle xmlns:a="http://schemas.openxmlformats.org/drawingml/2006/main"/>
          <a:p xmlns:a="http://schemas.openxmlformats.org/drawingml/2006/main">
            <a:pPr>
              <a:defRPr sz="1050">
                <a:solidFill>
                  <a:srgbClr val="A7ACA5"/>
                </a:solidFill>
              </a:defRPr>
            </a:pPr>
          </a:p>
        </c:txPr>
        <c:crossAx val="48672768"/>
      </c:catAx>
      <c:valAx>
        <c:axId val="48672768"/>
        <c:scaling>
          <c:orientation val="minMax"/>
          <c:max val="100"/>
          <c:min val="0"/>
        </c:scaling>
        <c:delete val="0"/>
        <c:axPos val="l"/>
        <c:majorGridlines>
          <c:spPr>
            <a:ln xmlns:a="http://schemas.openxmlformats.org/drawingml/2006/main" w="9525">
              <a:solidFill>
                <a:srgbClr val="303731"/>
              </a:solidFill>
              <a:prstDash val="solid"/>
            </a:ln>
          </c:spPr>
        </c:majorGridlines>
        <c:numFmt formatCode="0"/>
        <c:majorTickMark val="none"/>
        <c:minorTickMark val="none"/>
        <c:spPr>
          <a:ln xmlns:a="http://schemas.openxmlformats.org/drawingml/2006/main" w="9525">
            <a:solidFill>
              <a:srgbClr val="303731"/>
            </a:solidFill>
            <a:prstDash val="solid"/>
          </a:ln>
        </c:spPr>
        <c:txPr>
          <a:bodyPr xmlns:a="http://schemas.openxmlformats.org/drawingml/2006/main" anchorCtr="1"/>
          <a:lstStyle xmlns:a="http://schemas.openxmlformats.org/drawingml/2006/main"/>
          <a:p xmlns:a="http://schemas.openxmlformats.org/drawingml/2006/main">
            <a:pPr>
              <a:defRPr sz="900">
                <a:solidFill>
                  <a:srgbClr val="6F756F"/>
                </a:solidFill>
              </a:defRPr>
            </a:pPr>
          </a:p>
        </c:txPr>
        <c:crossAx val="48650112"/>
        <c:crossBetween val="between"/>
        <c:majorUnit val="20"/>
      </c:valAx>
      <c:spPr>
        <a:solidFill xmlns:a="http://schemas.openxmlformats.org/drawingml/2006/main">
          <a:srgbClr val="0B0E0D"/>
        </a:solidFill>
        <a:ln xmlns:a="http://schemas.openxmlformats.org/drawingml/2006/main" w="0">
          <a:solidFill>
            <a:srgbClr val="0B0E0D"/>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A7ACA5"/>
              </a:solidFill>
            </a:defRPr>
          </a:pPr>
        </a:p>
      </c:txPr>
    </c:legend>
    <c:plotVisOnly val="1"/>
  </c:chart>
  <c:spPr>
    <a:solidFill xmlns:a="http://schemas.openxmlformats.org/drawingml/2006/main">
      <a:srgbClr val="0B0E0D"/>
    </a:solidFill>
    <a:ln xmlns:a="http://schemas.openxmlformats.org/drawingml/2006/main" w="0">
      <a:solidFill>
        <a:srgbClr val="0B0E0D"/>
      </a:solidFill>
      <a:prstDash val="solid"/>
    </a:ln>
  </c:spPr>
</c:chartSpace>
</file>

<file path=ppt/slides/slide1.xml><?xml version="1.0" encoding="utf-8"?>
<p:sld xmlns:p="http://schemas.openxmlformats.org/presentationml/2006/main">
  <p:cSld>
    <p:bg>
      <p:bgPr>
        <a:solidFill xmlns:a="http://schemas.openxmlformats.org/drawingml/2006/main">
          <a:srgbClr val="0B0E0D"/>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75555a2f08a748a9"/>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1B9AF3F-0654-4B11-BBC1-24EEE438740B}"/>
              </a:ext>
            </a:extLst>
          </p:cNvPr>
          <p:cNvSpPr>
            <a:spLocks xmlns:a="http://schemas.openxmlformats.org/drawingml/2006/main" noGrp="1"/>
          </p:cNvSpPr>
          <p:nvPr/>
        </p:nvSpPr>
        <p:spPr>
          <a:xfrm xmlns:a="http://schemas.openxmlformats.org/drawingml/2006/main">
            <a:off x="0" y="0"/>
            <a:ext cx="5810250" cy="6858000"/>
          </a:xfrm>
          <a:prstGeom xmlns:a="http://schemas.openxmlformats.org/drawingml/2006/main" prst="rect">
            <a:avLst/>
          </a:prstGeom>
          <a:solidFill xmlns:a="http://schemas.openxmlformats.org/drawingml/2006/main">
            <a:srgbClr val="0B0E0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724D48C-8563-488A-B608-CDFDDB26CF46}"/>
              </a:ext>
            </a:extLst>
          </p:cNvPr>
          <p:cNvSpPr>
            <a:spLocks xmlns:a="http://schemas.openxmlformats.org/drawingml/2006/main" noGrp="1"/>
          </p:cNvSpPr>
          <p:nvPr/>
        </p:nvSpPr>
        <p:spPr>
          <a:xfrm xmlns:a="http://schemas.openxmlformats.org/drawingml/2006/main">
            <a:off x="609600" y="1104900"/>
            <a:ext cx="1104900" cy="0"/>
          </a:xfrm>
          <a:prstGeom xmlns:a="http://schemas.openxmlformats.org/drawingml/2006/main" prst="line">
            <a:avLst/>
          </a:prstGeom>
          <a:noFill xmlns:a="http://schemas.openxmlformats.org/drawingml/2006/main"/>
          <a:ln xmlns:a="http://schemas.openxmlformats.org/drawingml/2006/main" w="28575">
            <a:solidFill>
              <a:srgbClr val="C9A86A"/>
            </a:solidFill>
            <a:prstDash val="solid"/>
          </a:ln>
        </p:spPr>
      </p:sp>
      <p:sp>
        <p:nvSpPr>
          <p:cNvPr id="4" name="">
            <a:extLst xmlns:a="http://schemas.openxmlformats.org/drawingml/2006/main">
              <a:ext uri="{FF2B5EF4-FFF2-40B4-BE49-F238E27FC236}">
                <a16:creationId xmlns:a16="http://schemas.microsoft.com/office/drawing/2014/main" id="{4DFB67F1-7EC0-44A8-B5B5-AE228B40ACE3}"/>
              </a:ext>
            </a:extLst>
          </p:cNvPr>
          <p:cNvSpPr>
            <a:spLocks xmlns:a="http://schemas.openxmlformats.org/drawingml/2006/main" noGrp="1"/>
          </p:cNvSpPr>
          <p:nvPr/>
        </p:nvSpPr>
        <p:spPr>
          <a:xfrm xmlns:a="http://schemas.openxmlformats.org/drawingml/2006/main">
            <a:off x="609600" y="666750"/>
            <a:ext cx="447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E2C48C"/>
                </a:solidFill>
              </a:defRPr>
            </a:pPr>
            <a:r>
              <a:rPr sz="1125" b="1">
                <a:solidFill>
                  <a:srgbClr val="E2C48C"/>
                </a:solidFill>
              </a:rPr>
              <a:t>SMARTFORGE / OPTIFORGE</a:t>
            </a:r>
          </a:p>
        </p:txBody>
      </p:sp>
      <p:sp>
        <p:nvSpPr>
          <p:cNvPr id="5" name="">
            <a:extLst xmlns:a="http://schemas.openxmlformats.org/drawingml/2006/main">
              <a:ext uri="{FF2B5EF4-FFF2-40B4-BE49-F238E27FC236}">
                <a16:creationId xmlns:a16="http://schemas.microsoft.com/office/drawing/2014/main" id="{D252C598-22F9-44FF-9421-E3F6725483A2}"/>
              </a:ext>
            </a:extLst>
          </p:cNvPr>
          <p:cNvSpPr>
            <a:spLocks xmlns:a="http://schemas.openxmlformats.org/drawingml/2006/main" noGrp="1"/>
          </p:cNvSpPr>
          <p:nvPr/>
        </p:nvSpPr>
        <p:spPr>
          <a:xfrm xmlns:a="http://schemas.openxmlformats.org/drawingml/2006/main">
            <a:off x="609600" y="1476375"/>
            <a:ext cx="4762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800" b="1">
                <a:solidFill>
                  <a:srgbClr val="F4F0E6"/>
                </a:solidFill>
              </a:defRPr>
            </a:pPr>
            <a:r>
              <a:rPr sz="4800" b="1">
                <a:solidFill>
                  <a:srgbClr val="F4F0E6"/>
                </a:solidFill>
              </a:rPr>
              <a:t>SmartForge</a:t>
            </a:r>
          </a:p>
        </p:txBody>
      </p:sp>
      <p:sp>
        <p:nvSpPr>
          <p:cNvPr id="6" name="">
            <a:extLst xmlns:a="http://schemas.openxmlformats.org/drawingml/2006/main">
              <a:ext uri="{FF2B5EF4-FFF2-40B4-BE49-F238E27FC236}">
                <a16:creationId xmlns:a16="http://schemas.microsoft.com/office/drawing/2014/main" id="{ACF6F2A9-0358-4EC0-844C-D7CCA39AA094}"/>
              </a:ext>
            </a:extLst>
          </p:cNvPr>
          <p:cNvSpPr>
            <a:spLocks xmlns:a="http://schemas.openxmlformats.org/drawingml/2006/main" noGrp="1"/>
          </p:cNvSpPr>
          <p:nvPr/>
        </p:nvSpPr>
        <p:spPr>
          <a:xfrm xmlns:a="http://schemas.openxmlformats.org/drawingml/2006/main">
            <a:off x="609600" y="230505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F4F0E6"/>
                </a:solidFill>
              </a:defRPr>
            </a:pPr>
            <a:r>
              <a:rPr sz="2250" b="1">
                <a:solidFill>
                  <a:srgbClr val="F4F0E6"/>
                </a:solidFill>
              </a:rPr>
              <a:t>A factory decision control tower</a:t>
            </a:r>
          </a:p>
        </p:txBody>
      </p:sp>
      <p:sp>
        <p:nvSpPr>
          <p:cNvPr id="7" name="">
            <a:extLst xmlns:a="http://schemas.openxmlformats.org/drawingml/2006/main">
              <a:ext uri="{FF2B5EF4-FFF2-40B4-BE49-F238E27FC236}">
                <a16:creationId xmlns:a16="http://schemas.microsoft.com/office/drawing/2014/main" id="{6FFF3BF0-98A9-4BC9-BD0C-245D7CAE21A8}"/>
              </a:ext>
            </a:extLst>
          </p:cNvPr>
          <p:cNvSpPr>
            <a:spLocks xmlns:a="http://schemas.openxmlformats.org/drawingml/2006/main" noGrp="1"/>
          </p:cNvSpPr>
          <p:nvPr/>
        </p:nvSpPr>
        <p:spPr>
          <a:xfrm xmlns:a="http://schemas.openxmlformats.org/drawingml/2006/main">
            <a:off x="609600" y="3048000"/>
            <a:ext cx="4286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A7ACA5"/>
                </a:solidFill>
              </a:defRPr>
            </a:pPr>
            <a:r>
              <a:rPr sz="1575" b="0">
                <a:solidFill>
                  <a:srgbClr val="A7ACA5"/>
                </a:solidFill>
              </a:rPr>
              <a:t>Finite-capacity scheduling, capable-to-promise, disruption recovery and risk-adjusted profitability in one auditable workflow.</a:t>
            </a:r>
          </a:p>
        </p:txBody>
      </p:sp>
      <p:sp>
        <p:nvSpPr>
          <p:cNvPr id="8" name="">
            <a:extLst xmlns:a="http://schemas.openxmlformats.org/drawingml/2006/main">
              <a:ext uri="{FF2B5EF4-FFF2-40B4-BE49-F238E27FC236}">
                <a16:creationId xmlns:a16="http://schemas.microsoft.com/office/drawing/2014/main" id="{DD06F755-034B-442A-9B7F-8C4FF2803232}"/>
              </a:ext>
            </a:extLst>
          </p:cNvPr>
          <p:cNvSpPr>
            <a:spLocks xmlns:a="http://schemas.openxmlformats.org/drawingml/2006/main" noGrp="1"/>
          </p:cNvSpPr>
          <p:nvPr/>
        </p:nvSpPr>
        <p:spPr>
          <a:xfrm xmlns:a="http://schemas.openxmlformats.org/drawingml/2006/main">
            <a:off x="609600" y="47625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E2C48C"/>
                </a:solidFill>
              </a:defRPr>
            </a:pPr>
            <a:r>
              <a:rPr sz="1275" b="1">
                <a:solidFill>
                  <a:srgbClr val="E2C48C"/>
                </a:solidFill>
              </a:rPr>
              <a:t>14 machines  ·  40 operators  ·  96 routed operations</a:t>
            </a:r>
          </a:p>
        </p:txBody>
      </p:sp>
      <p:sp>
        <p:nvSpPr>
          <p:cNvPr id="9" name="">
            <a:extLst xmlns:a="http://schemas.openxmlformats.org/drawingml/2006/main">
              <a:ext uri="{FF2B5EF4-FFF2-40B4-BE49-F238E27FC236}">
                <a16:creationId xmlns:a16="http://schemas.microsoft.com/office/drawing/2014/main" id="{FB5C9DC5-38EC-4321-B046-3D1D8AC5ACD0}"/>
              </a:ext>
            </a:extLst>
          </p:cNvPr>
          <p:cNvSpPr>
            <a:spLocks xmlns:a="http://schemas.openxmlformats.org/drawingml/2006/main" noGrp="1"/>
          </p:cNvSpPr>
          <p:nvPr/>
        </p:nvSpPr>
        <p:spPr>
          <a:xfrm xmlns:a="http://schemas.openxmlformats.org/drawingml/2006/main">
            <a:off x="609600" y="6210300"/>
            <a:ext cx="428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6F756F"/>
                </a:solidFill>
              </a:defRPr>
            </a:pPr>
            <a:r>
              <a:rPr sz="900" b="1">
                <a:solidFill>
                  <a:srgbClr val="6F756F"/>
                </a:solidFill>
              </a:rPr>
              <a:t>TECHNICAL ASSESSMENT PRESENTATION</a:t>
            </a:r>
          </a:p>
        </p:txBody>
      </p:sp>
    </p:spTree>
    <p:extLst>
      <p:ext uri="{BB962C8B-B14F-4D97-AF65-F5344CB8AC3E}">
        <p14:creationId xmlns:p14="http://schemas.microsoft.com/office/powerpoint/2010/main" val="352891172"/>
      </p:ext>
    </p:extLst>
  </p:cSld>
</p:sld>
</file>

<file path=ppt/slides/slide2.xml><?xml version="1.0" encoding="utf-8"?>
<p:sld xmlns:p="http://schemas.openxmlformats.org/presentationml/2006/main">
  <p:cSld>
    <p:bg>
      <p:bgPr>
        <a:solidFill xmlns:a="http://schemas.openxmlformats.org/drawingml/2006/main">
          <a:srgbClr val="0B0E0D"/>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0553E1AF-E80C-4A60-BDEC-81F157C1EF1E}"/>
              </a:ext>
            </a:extLst>
          </p:cNvPr>
          <p:cNvSpPr>
            <a:spLocks xmlns:a="http://schemas.openxmlformats.org/drawingml/2006/main" noGrp="1"/>
          </p:cNvSpPr>
          <p:nvPr/>
        </p:nvSpPr>
        <p:spPr>
          <a:xfrm xmlns:a="http://schemas.openxmlformats.org/drawingml/2006/main">
            <a:off x="609600" y="323850"/>
            <a:ext cx="447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C9A86A"/>
                </a:solidFill>
              </a:defRPr>
            </a:pPr>
            <a:r>
              <a:rPr sz="1050" b="1">
                <a:solidFill>
                  <a:srgbClr val="C9A86A"/>
                </a:solidFill>
              </a:rPr>
              <a:t>THE OPERATING PROBLEM</a:t>
            </a:r>
          </a:p>
        </p:txBody>
      </p:sp>
      <p:sp>
        <p:nvSpPr>
          <p:cNvPr id="2" name="">
            <a:extLst xmlns:a="http://schemas.openxmlformats.org/drawingml/2006/main">
              <a:ext uri="{FF2B5EF4-FFF2-40B4-BE49-F238E27FC236}">
                <a16:creationId xmlns:a16="http://schemas.microsoft.com/office/drawing/2014/main" id="{8A7C575C-3267-4BB0-9807-F297EE6A27F9}"/>
              </a:ext>
            </a:extLst>
          </p:cNvPr>
          <p:cNvSpPr>
            <a:spLocks xmlns:a="http://schemas.openxmlformats.org/drawingml/2006/main" noGrp="1"/>
          </p:cNvSpPr>
          <p:nvPr/>
        </p:nvSpPr>
        <p:spPr>
          <a:xfrm xmlns:a="http://schemas.openxmlformats.org/drawingml/2006/main">
            <a:off x="609600" y="647700"/>
            <a:ext cx="10934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F4F0E6"/>
                </a:solidFill>
              </a:defRPr>
            </a:pPr>
            <a:r>
              <a:rPr sz="3000" b="1">
                <a:solidFill>
                  <a:srgbClr val="F4F0E6"/>
                </a:solidFill>
              </a:rPr>
              <a:t>Factory capacity only exists when constraints align</a:t>
            </a:r>
          </a:p>
        </p:txBody>
      </p:sp>
      <p:sp>
        <p:nvSpPr>
          <p:cNvPr id="3" name="">
            <a:extLst xmlns:a="http://schemas.openxmlformats.org/drawingml/2006/main">
              <a:ext uri="{FF2B5EF4-FFF2-40B4-BE49-F238E27FC236}">
                <a16:creationId xmlns:a16="http://schemas.microsoft.com/office/drawing/2014/main" id="{D65F5954-B257-4DA8-9CF1-C893CD1C3CFD}"/>
              </a:ext>
            </a:extLst>
          </p:cNvPr>
          <p:cNvSpPr>
            <a:spLocks xmlns:a="http://schemas.openxmlformats.org/drawingml/2006/main" noGrp="1"/>
          </p:cNvSpPr>
          <p:nvPr/>
        </p:nvSpPr>
        <p:spPr>
          <a:xfrm xmlns:a="http://schemas.openxmlformats.org/drawingml/2006/main">
            <a:off x="609600" y="1238250"/>
            <a:ext cx="10972800" cy="0"/>
          </a:xfrm>
          <a:prstGeom xmlns:a="http://schemas.openxmlformats.org/drawingml/2006/main" prst="line">
            <a:avLst/>
          </a:prstGeom>
          <a:noFill xmlns:a="http://schemas.openxmlformats.org/drawingml/2006/main"/>
          <a:ln xmlns:a="http://schemas.openxmlformats.org/drawingml/2006/main" w="9525">
            <a:solidFill>
              <a:srgbClr val="303731"/>
            </a:solidFill>
            <a:prstDash val="solid"/>
          </a:ln>
        </p:spPr>
      </p:sp>
      <p:sp>
        <p:nvSpPr>
          <p:cNvPr id="4" name="">
            <a:extLst xmlns:a="http://schemas.openxmlformats.org/drawingml/2006/main">
              <a:ext uri="{FF2B5EF4-FFF2-40B4-BE49-F238E27FC236}">
                <a16:creationId xmlns:a16="http://schemas.microsoft.com/office/drawing/2014/main" id="{FA6EA7E4-5B77-4E73-AE9A-E81FCFBB6869}"/>
              </a:ext>
            </a:extLst>
          </p:cNvPr>
          <p:cNvSpPr>
            <a:spLocks xmlns:a="http://schemas.openxmlformats.org/drawingml/2006/main" noGrp="1"/>
          </p:cNvSpPr>
          <p:nvPr/>
        </p:nvSpPr>
        <p:spPr>
          <a:xfrm xmlns:a="http://schemas.openxmlformats.org/drawingml/2006/main">
            <a:off x="11106150" y="3238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6F756F"/>
                </a:solidFill>
              </a:defRPr>
            </a:pPr>
            <a:r>
              <a:rPr sz="1050" b="1">
                <a:solidFill>
                  <a:srgbClr val="6F756F"/>
                </a:solidFill>
              </a:rPr>
              <a:t>02</a:t>
            </a:r>
          </a:p>
        </p:txBody>
      </p:sp>
      <p:sp>
        <p:nvSpPr>
          <p:cNvPr id="5" name="">
            <a:extLst xmlns:a="http://schemas.openxmlformats.org/drawingml/2006/main">
              <a:ext uri="{FF2B5EF4-FFF2-40B4-BE49-F238E27FC236}">
                <a16:creationId xmlns:a16="http://schemas.microsoft.com/office/drawing/2014/main" id="{C54AB927-FCCA-44AE-B934-472E3114E198}"/>
              </a:ext>
            </a:extLst>
          </p:cNvPr>
          <p:cNvSpPr>
            <a:spLocks xmlns:a="http://schemas.openxmlformats.org/drawingml/2006/main" noGrp="1"/>
          </p:cNvSpPr>
          <p:nvPr/>
        </p:nvSpPr>
        <p:spPr>
          <a:xfrm xmlns:a="http://schemas.openxmlformats.org/drawingml/2006/main">
            <a:off x="609600" y="1638300"/>
            <a:ext cx="200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E2C48C"/>
                </a:solidFill>
              </a:defRPr>
            </a:pPr>
            <a:r>
              <a:rPr sz="3150" b="1">
                <a:solidFill>
                  <a:srgbClr val="E2C48C"/>
                </a:solidFill>
              </a:rPr>
              <a:t>14</a:t>
            </a:r>
          </a:p>
        </p:txBody>
      </p:sp>
      <p:sp>
        <p:nvSpPr>
          <p:cNvPr id="6" name="">
            <a:extLst xmlns:a="http://schemas.openxmlformats.org/drawingml/2006/main">
              <a:ext uri="{FF2B5EF4-FFF2-40B4-BE49-F238E27FC236}">
                <a16:creationId xmlns:a16="http://schemas.microsoft.com/office/drawing/2014/main" id="{2F1D0745-6D65-4E9F-AF9A-6A6B39ED08D5}"/>
              </a:ext>
            </a:extLst>
          </p:cNvPr>
          <p:cNvSpPr>
            <a:spLocks xmlns:a="http://schemas.openxmlformats.org/drawingml/2006/main" noGrp="1"/>
          </p:cNvSpPr>
          <p:nvPr/>
        </p:nvSpPr>
        <p:spPr>
          <a:xfrm xmlns:a="http://schemas.openxmlformats.org/drawingml/2006/main">
            <a:off x="609600" y="216217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A7ACA5"/>
                </a:solidFill>
              </a:defRPr>
            </a:pPr>
            <a:r>
              <a:rPr sz="975" b="1">
                <a:solidFill>
                  <a:srgbClr val="A7ACA5"/>
                </a:solidFill>
              </a:rPr>
              <a:t>FINITE-CAPACITY RESOURCES</a:t>
            </a:r>
          </a:p>
        </p:txBody>
      </p:sp>
      <p:sp>
        <p:nvSpPr>
          <p:cNvPr id="7" name="">
            <a:extLst xmlns:a="http://schemas.openxmlformats.org/drawingml/2006/main">
              <a:ext uri="{FF2B5EF4-FFF2-40B4-BE49-F238E27FC236}">
                <a16:creationId xmlns:a16="http://schemas.microsoft.com/office/drawing/2014/main" id="{3D57AD30-C1C4-41CF-A484-94441EF5FB5E}"/>
              </a:ext>
            </a:extLst>
          </p:cNvPr>
          <p:cNvSpPr>
            <a:spLocks xmlns:a="http://schemas.openxmlformats.org/drawingml/2006/main" noGrp="1"/>
          </p:cNvSpPr>
          <p:nvPr/>
        </p:nvSpPr>
        <p:spPr>
          <a:xfrm xmlns:a="http://schemas.openxmlformats.org/drawingml/2006/main">
            <a:off x="609600" y="2714625"/>
            <a:ext cx="200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4F0E6"/>
                </a:solidFill>
              </a:defRPr>
            </a:pPr>
            <a:r>
              <a:rPr sz="3150" b="1">
                <a:solidFill>
                  <a:srgbClr val="F4F0E6"/>
                </a:solidFill>
              </a:rPr>
              <a:t>40</a:t>
            </a:r>
          </a:p>
        </p:txBody>
      </p:sp>
      <p:sp>
        <p:nvSpPr>
          <p:cNvPr id="8" name="">
            <a:extLst xmlns:a="http://schemas.openxmlformats.org/drawingml/2006/main">
              <a:ext uri="{FF2B5EF4-FFF2-40B4-BE49-F238E27FC236}">
                <a16:creationId xmlns:a16="http://schemas.microsoft.com/office/drawing/2014/main" id="{F4032037-F152-4182-BF78-65CAB5937B1B}"/>
              </a:ext>
            </a:extLst>
          </p:cNvPr>
          <p:cNvSpPr>
            <a:spLocks xmlns:a="http://schemas.openxmlformats.org/drawingml/2006/main" noGrp="1"/>
          </p:cNvSpPr>
          <p:nvPr/>
        </p:nvSpPr>
        <p:spPr>
          <a:xfrm xmlns:a="http://schemas.openxmlformats.org/drawingml/2006/main">
            <a:off x="609600" y="32385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A7ACA5"/>
                </a:solidFill>
              </a:defRPr>
            </a:pPr>
            <a:r>
              <a:rPr sz="975" b="1">
                <a:solidFill>
                  <a:srgbClr val="A7ACA5"/>
                </a:solidFill>
              </a:rPr>
              <a:t>SKILL-CONSTRAINED OPERATORS</a:t>
            </a:r>
          </a:p>
        </p:txBody>
      </p:sp>
      <p:sp>
        <p:nvSpPr>
          <p:cNvPr id="9" name="">
            <a:extLst xmlns:a="http://schemas.openxmlformats.org/drawingml/2006/main">
              <a:ext uri="{FF2B5EF4-FFF2-40B4-BE49-F238E27FC236}">
                <a16:creationId xmlns:a16="http://schemas.microsoft.com/office/drawing/2014/main" id="{C92CDDCA-74AA-44CA-8D4A-991A30C906F8}"/>
              </a:ext>
            </a:extLst>
          </p:cNvPr>
          <p:cNvSpPr>
            <a:spLocks xmlns:a="http://schemas.openxmlformats.org/drawingml/2006/main" noGrp="1"/>
          </p:cNvSpPr>
          <p:nvPr/>
        </p:nvSpPr>
        <p:spPr>
          <a:xfrm xmlns:a="http://schemas.openxmlformats.org/drawingml/2006/main">
            <a:off x="609600" y="3790950"/>
            <a:ext cx="200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78A984"/>
                </a:solidFill>
              </a:defRPr>
            </a:pPr>
            <a:r>
              <a:rPr sz="3150" b="1">
                <a:solidFill>
                  <a:srgbClr val="78A984"/>
                </a:solidFill>
              </a:rPr>
              <a:t>96</a:t>
            </a:r>
          </a:p>
        </p:txBody>
      </p:sp>
      <p:sp>
        <p:nvSpPr>
          <p:cNvPr id="10" name="">
            <a:extLst xmlns:a="http://schemas.openxmlformats.org/drawingml/2006/main">
              <a:ext uri="{FF2B5EF4-FFF2-40B4-BE49-F238E27FC236}">
                <a16:creationId xmlns:a16="http://schemas.microsoft.com/office/drawing/2014/main" id="{6CE36E18-320E-4141-AED3-B82A2C48E1FA}"/>
              </a:ext>
            </a:extLst>
          </p:cNvPr>
          <p:cNvSpPr>
            <a:spLocks xmlns:a="http://schemas.openxmlformats.org/drawingml/2006/main" noGrp="1"/>
          </p:cNvSpPr>
          <p:nvPr/>
        </p:nvSpPr>
        <p:spPr>
          <a:xfrm xmlns:a="http://schemas.openxmlformats.org/drawingml/2006/main">
            <a:off x="609600" y="431482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A7ACA5"/>
                </a:solidFill>
              </a:defRPr>
            </a:pPr>
            <a:r>
              <a:rPr sz="975" b="1">
                <a:solidFill>
                  <a:srgbClr val="A7ACA5"/>
                </a:solidFill>
              </a:rPr>
              <a:t>PRECEDENCE-LINKED OPERATIONS</a:t>
            </a:r>
          </a:p>
        </p:txBody>
      </p:sp>
      <p:sp>
        <p:nvSpPr>
          <p:cNvPr id="11" name="">
            <a:extLst xmlns:a="http://schemas.openxmlformats.org/drawingml/2006/main">
              <a:ext uri="{FF2B5EF4-FFF2-40B4-BE49-F238E27FC236}">
                <a16:creationId xmlns:a16="http://schemas.microsoft.com/office/drawing/2014/main" id="{680AF32E-5C71-499A-B2D6-F82D9EB31FF4}"/>
              </a:ext>
            </a:extLst>
          </p:cNvPr>
          <p:cNvSpPr>
            <a:spLocks xmlns:a="http://schemas.openxmlformats.org/drawingml/2006/main" noGrp="1"/>
          </p:cNvSpPr>
          <p:nvPr/>
        </p:nvSpPr>
        <p:spPr>
          <a:xfrm xmlns:a="http://schemas.openxmlformats.org/drawingml/2006/main">
            <a:off x="3143250" y="1581150"/>
            <a:ext cx="0" cy="4000500"/>
          </a:xfrm>
          <a:prstGeom xmlns:a="http://schemas.openxmlformats.org/drawingml/2006/main" prst="line">
            <a:avLst/>
          </a:prstGeom>
          <a:noFill xmlns:a="http://schemas.openxmlformats.org/drawingml/2006/main"/>
          <a:ln xmlns:a="http://schemas.openxmlformats.org/drawingml/2006/main" w="9525">
            <a:solidFill>
              <a:srgbClr val="303731"/>
            </a:solidFill>
            <a:prstDash val="solid"/>
          </a:ln>
        </p:spPr>
      </p:sp>
      <p:sp>
        <p:nvSpPr>
          <p:cNvPr id="12" name="">
            <a:extLst xmlns:a="http://schemas.openxmlformats.org/drawingml/2006/main">
              <a:ext uri="{FF2B5EF4-FFF2-40B4-BE49-F238E27FC236}">
                <a16:creationId xmlns:a16="http://schemas.microsoft.com/office/drawing/2014/main" id="{6BB0255A-8C92-432B-BDDB-EA517F8EAA86}"/>
              </a:ext>
            </a:extLst>
          </p:cNvPr>
          <p:cNvSpPr>
            <a:spLocks xmlns:a="http://schemas.openxmlformats.org/drawingml/2006/main" noGrp="1"/>
          </p:cNvSpPr>
          <p:nvPr/>
        </p:nvSpPr>
        <p:spPr>
          <a:xfrm xmlns:a="http://schemas.openxmlformats.org/drawingml/2006/main">
            <a:off x="3562350" y="169545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4F0E6"/>
                </a:solidFill>
              </a:defRPr>
            </a:pPr>
            <a:r>
              <a:rPr sz="1500" b="1">
                <a:solidFill>
                  <a:srgbClr val="F4F0E6"/>
                </a:solidFill>
              </a:rPr>
              <a:t>Machine</a:t>
            </a:r>
          </a:p>
        </p:txBody>
      </p:sp>
      <p:sp>
        <p:nvSpPr>
          <p:cNvPr id="13" name="">
            <a:extLst xmlns:a="http://schemas.openxmlformats.org/drawingml/2006/main">
              <a:ext uri="{FF2B5EF4-FFF2-40B4-BE49-F238E27FC236}">
                <a16:creationId xmlns:a16="http://schemas.microsoft.com/office/drawing/2014/main" id="{9EED898B-7B6D-4C3B-A20B-C76DE89BCF7A}"/>
              </a:ext>
            </a:extLst>
          </p:cNvPr>
          <p:cNvSpPr>
            <a:spLocks xmlns:a="http://schemas.openxmlformats.org/drawingml/2006/main" noGrp="1"/>
          </p:cNvSpPr>
          <p:nvPr/>
        </p:nvSpPr>
        <p:spPr>
          <a:xfrm xmlns:a="http://schemas.openxmlformats.org/drawingml/2006/main">
            <a:off x="3562350" y="215265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4F0E6"/>
                </a:solidFill>
              </a:defRPr>
            </a:pPr>
            <a:r>
              <a:rPr sz="1500" b="1">
                <a:solidFill>
                  <a:srgbClr val="F4F0E6"/>
                </a:solidFill>
              </a:rPr>
              <a:t>+ operator</a:t>
            </a:r>
          </a:p>
        </p:txBody>
      </p:sp>
      <p:sp>
        <p:nvSpPr>
          <p:cNvPr id="14" name="">
            <a:extLst xmlns:a="http://schemas.openxmlformats.org/drawingml/2006/main">
              <a:ext uri="{FF2B5EF4-FFF2-40B4-BE49-F238E27FC236}">
                <a16:creationId xmlns:a16="http://schemas.microsoft.com/office/drawing/2014/main" id="{2836FCA4-C7AB-4FBA-92D1-BFCA6A753161}"/>
              </a:ext>
            </a:extLst>
          </p:cNvPr>
          <p:cNvSpPr>
            <a:spLocks xmlns:a="http://schemas.openxmlformats.org/drawingml/2006/main" noGrp="1"/>
          </p:cNvSpPr>
          <p:nvPr/>
        </p:nvSpPr>
        <p:spPr>
          <a:xfrm xmlns:a="http://schemas.openxmlformats.org/drawingml/2006/main">
            <a:off x="3562350" y="260985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4F0E6"/>
                </a:solidFill>
              </a:defRPr>
            </a:pPr>
            <a:r>
              <a:rPr sz="1500" b="1">
                <a:solidFill>
                  <a:srgbClr val="F4F0E6"/>
                </a:solidFill>
              </a:rPr>
              <a:t>+ material</a:t>
            </a:r>
          </a:p>
        </p:txBody>
      </p:sp>
      <p:sp>
        <p:nvSpPr>
          <p:cNvPr id="15" name="">
            <a:extLst xmlns:a="http://schemas.openxmlformats.org/drawingml/2006/main">
              <a:ext uri="{FF2B5EF4-FFF2-40B4-BE49-F238E27FC236}">
                <a16:creationId xmlns:a16="http://schemas.microsoft.com/office/drawing/2014/main" id="{2D4BA056-B08C-4A1C-AE1E-86F2E32B9640}"/>
              </a:ext>
            </a:extLst>
          </p:cNvPr>
          <p:cNvSpPr>
            <a:spLocks xmlns:a="http://schemas.openxmlformats.org/drawingml/2006/main" noGrp="1"/>
          </p:cNvSpPr>
          <p:nvPr/>
        </p:nvSpPr>
        <p:spPr>
          <a:xfrm xmlns:a="http://schemas.openxmlformats.org/drawingml/2006/main">
            <a:off x="3562350" y="30670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4F0E6"/>
                </a:solidFill>
              </a:defRPr>
            </a:pPr>
            <a:r>
              <a:rPr sz="1500" b="1">
                <a:solidFill>
                  <a:srgbClr val="F4F0E6"/>
                </a:solidFill>
              </a:rPr>
              <a:t>+ power</a:t>
            </a:r>
          </a:p>
        </p:txBody>
      </p:sp>
      <p:sp>
        <p:nvSpPr>
          <p:cNvPr id="16" name="">
            <a:extLst xmlns:a="http://schemas.openxmlformats.org/drawingml/2006/main">
              <a:ext uri="{FF2B5EF4-FFF2-40B4-BE49-F238E27FC236}">
                <a16:creationId xmlns:a16="http://schemas.microsoft.com/office/drawing/2014/main" id="{271101BA-C336-4177-9F1F-51402237D937}"/>
              </a:ext>
            </a:extLst>
          </p:cNvPr>
          <p:cNvSpPr>
            <a:spLocks xmlns:a="http://schemas.openxmlformats.org/drawingml/2006/main" noGrp="1"/>
          </p:cNvSpPr>
          <p:nvPr/>
        </p:nvSpPr>
        <p:spPr>
          <a:xfrm xmlns:a="http://schemas.openxmlformats.org/drawingml/2006/main">
            <a:off x="3562350" y="352425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4F0E6"/>
                </a:solidFill>
              </a:defRPr>
            </a:pPr>
            <a:r>
              <a:rPr sz="1500" b="1">
                <a:solidFill>
                  <a:srgbClr val="F4F0E6"/>
                </a:solidFill>
              </a:rPr>
              <a:t>+ sequence</a:t>
            </a:r>
          </a:p>
        </p:txBody>
      </p:sp>
      <p:sp>
        <p:nvSpPr>
          <p:cNvPr id="17" name="">
            <a:extLst xmlns:a="http://schemas.openxmlformats.org/drawingml/2006/main">
              <a:ext uri="{FF2B5EF4-FFF2-40B4-BE49-F238E27FC236}">
                <a16:creationId xmlns:a16="http://schemas.microsoft.com/office/drawing/2014/main" id="{AED7352B-35F9-476B-8E5B-663303839D2B}"/>
              </a:ext>
            </a:extLst>
          </p:cNvPr>
          <p:cNvSpPr>
            <a:spLocks xmlns:a="http://schemas.openxmlformats.org/drawingml/2006/main" noGrp="1"/>
          </p:cNvSpPr>
          <p:nvPr/>
        </p:nvSpPr>
        <p:spPr>
          <a:xfrm xmlns:a="http://schemas.openxmlformats.org/drawingml/2006/main">
            <a:off x="3562350" y="398145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4F0E6"/>
                </a:solidFill>
              </a:defRPr>
            </a:pPr>
            <a:r>
              <a:rPr sz="1500" b="1">
                <a:solidFill>
                  <a:srgbClr val="F4F0E6"/>
                </a:solidFill>
              </a:rPr>
              <a:t>+ time</a:t>
            </a:r>
          </a:p>
        </p:txBody>
      </p:sp>
      <p:sp>
        <p:nvSpPr>
          <p:cNvPr id="18" name="">
            <a:extLst xmlns:a="http://schemas.openxmlformats.org/drawingml/2006/main">
              <a:ext uri="{FF2B5EF4-FFF2-40B4-BE49-F238E27FC236}">
                <a16:creationId xmlns:a16="http://schemas.microsoft.com/office/drawing/2014/main" id="{F8F2B122-7121-46F8-874C-BCBAA2FDEBD4}"/>
              </a:ext>
            </a:extLst>
          </p:cNvPr>
          <p:cNvSpPr>
            <a:spLocks xmlns:a="http://schemas.openxmlformats.org/drawingml/2006/main" noGrp="1"/>
          </p:cNvSpPr>
          <p:nvPr/>
        </p:nvSpPr>
        <p:spPr>
          <a:xfrm xmlns:a="http://schemas.openxmlformats.org/drawingml/2006/main">
            <a:off x="3562350" y="4572000"/>
            <a:ext cx="2000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E2C48C"/>
                </a:solidFill>
              </a:defRPr>
            </a:pPr>
            <a:r>
              <a:rPr sz="2025" b="1">
                <a:solidFill>
                  <a:srgbClr val="E2C48C"/>
                </a:solidFill>
              </a:rPr>
              <a:t>= a promise the factory can defend</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bbd92470d62d4c0d"/>
          <a:srcRect xmlns:a="http://schemas.openxmlformats.org/drawingml/2006/main" l="11017" t="0" r="11017" b="0"/>
          <a:stretch xmlns:a="http://schemas.openxmlformats.org/drawingml/2006/main">
            <a:fillRect l="0" t="0" r="0" b="0"/>
          </a:stretch>
        </p:blipFill>
        <p:spPr>
          <a:xfrm xmlns:a="http://schemas.openxmlformats.org/drawingml/2006/main">
            <a:off x="5905500" y="1581150"/>
            <a:ext cx="5676900" cy="4095750"/>
          </a:xfrm>
          <a:prstGeom xmlns:a="http://schemas.openxmlformats.org/drawingml/2006/main" prst="roundRect">
            <a:avLst>
              <a:gd name="adj" fmla="val 3256"/>
            </a:avLst>
          </a:prstGeom>
        </p:spPr>
      </p:pic>
      <p:sp>
        <p:nvSpPr>
          <p:cNvPr id="20" name="">
            <a:extLst xmlns:a="http://schemas.openxmlformats.org/drawingml/2006/main">
              <a:ext uri="{FF2B5EF4-FFF2-40B4-BE49-F238E27FC236}">
                <a16:creationId xmlns:a16="http://schemas.microsoft.com/office/drawing/2014/main" id="{BFA6A331-43D4-49A1-A132-E7A9BFC7417A}"/>
              </a:ext>
            </a:extLst>
          </p:cNvPr>
          <p:cNvSpPr>
            <a:spLocks xmlns:a="http://schemas.openxmlformats.org/drawingml/2006/main" noGrp="1"/>
          </p:cNvSpPr>
          <p:nvPr/>
        </p:nvSpPr>
        <p:spPr>
          <a:xfrm xmlns:a="http://schemas.openxmlformats.org/drawingml/2006/main">
            <a:off x="5905500" y="1581150"/>
            <a:ext cx="5676900" cy="4095750"/>
          </a:xfrm>
          <a:prstGeom xmlns:a="http://schemas.openxmlformats.org/drawingml/2006/main" prst="roundRect">
            <a:avLst>
              <a:gd name="adj" fmla="val 3256"/>
            </a:avLst>
          </a:prstGeom>
          <a:noFill xmlns:a="http://schemas.openxmlformats.org/drawingml/2006/main"/>
          <a:ln xmlns:a="http://schemas.openxmlformats.org/drawingml/2006/main" w="9525">
            <a:solidFill>
              <a:srgbClr val="303731"/>
            </a:solidFill>
            <a:prstDash val="solid"/>
          </a:ln>
        </p:spPr>
      </p:sp>
      <p:sp>
        <p:nvSpPr>
          <p:cNvPr id="21" name="">
            <a:extLst xmlns:a="http://schemas.openxmlformats.org/drawingml/2006/main">
              <a:ext uri="{FF2B5EF4-FFF2-40B4-BE49-F238E27FC236}">
                <a16:creationId xmlns:a16="http://schemas.microsoft.com/office/drawing/2014/main" id="{19548E25-462D-4A40-B7DC-3A2329FAEF8F}"/>
              </a:ext>
            </a:extLst>
          </p:cNvPr>
          <p:cNvSpPr>
            <a:spLocks xmlns:a="http://schemas.openxmlformats.org/drawingml/2006/main" noGrp="1"/>
          </p:cNvSpPr>
          <p:nvPr/>
        </p:nvSpPr>
        <p:spPr>
          <a:xfrm xmlns:a="http://schemas.openxmlformats.org/drawingml/2006/main">
            <a:off x="5905500" y="5848350"/>
            <a:ext cx="5676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A7ACA5"/>
                </a:solidFill>
              </a:defRPr>
            </a:pPr>
            <a:r>
              <a:rPr sz="1275" b="1">
                <a:solidFill>
                  <a:srgbClr val="A7ACA5"/>
                </a:solidFill>
              </a:rPr>
              <a:t>GRIND-01 at 96.2% turns one bottleneck into a delivery and profit decision.</a:t>
            </a:r>
          </a:p>
        </p:txBody>
      </p:sp>
      <p:sp>
        <p:nvSpPr>
          <p:cNvPr id="22" name="">
            <a:extLst xmlns:a="http://schemas.openxmlformats.org/drawingml/2006/main">
              <a:ext uri="{FF2B5EF4-FFF2-40B4-BE49-F238E27FC236}">
                <a16:creationId xmlns:a16="http://schemas.microsoft.com/office/drawing/2014/main" id="{EB493DB4-C13E-4140-8E16-5B177037135B}"/>
              </a:ext>
            </a:extLst>
          </p:cNvPr>
          <p:cNvSpPr>
            <a:spLocks xmlns:a="http://schemas.openxmlformats.org/drawingml/2006/main" noGrp="1"/>
          </p:cNvSpPr>
          <p:nvPr/>
        </p:nvSpPr>
        <p:spPr>
          <a:xfrm xmlns:a="http://schemas.openxmlformats.org/drawingml/2006/main">
            <a:off x="609600" y="65532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6F756F"/>
                </a:solidFill>
              </a:defRPr>
            </a:pPr>
            <a:r>
              <a:rPr sz="825" b="1">
                <a:solidFill>
                  <a:srgbClr val="6F756F"/>
                </a:solidFill>
              </a:rPr>
              <a:t>SMARTFORGE · FINITE-CAPACITY MANUFACTURING DECISIONS</a:t>
            </a:r>
          </a:p>
        </p:txBody>
      </p:sp>
    </p:spTree>
    <p:extLst>
      <p:ext uri="{BB962C8B-B14F-4D97-AF65-F5344CB8AC3E}">
        <p14:creationId xmlns:p14="http://schemas.microsoft.com/office/powerpoint/2010/main" val="454221924"/>
      </p:ext>
    </p:extLst>
  </p:cSld>
</p:sld>
</file>

<file path=ppt/slides/slide3.xml><?xml version="1.0" encoding="utf-8"?>
<p:sld xmlns:p="http://schemas.openxmlformats.org/presentationml/2006/main">
  <p:cSld>
    <p:bg>
      <p:bgPr>
        <a:solidFill xmlns:a="http://schemas.openxmlformats.org/drawingml/2006/main">
          <a:srgbClr val="0B0E0D"/>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8E0FAD6B-43E5-439D-833D-77D1FEB614B2}"/>
              </a:ext>
            </a:extLst>
          </p:cNvPr>
          <p:cNvSpPr>
            <a:spLocks xmlns:a="http://schemas.openxmlformats.org/drawingml/2006/main" noGrp="1"/>
          </p:cNvSpPr>
          <p:nvPr/>
        </p:nvSpPr>
        <p:spPr>
          <a:xfrm xmlns:a="http://schemas.openxmlformats.org/drawingml/2006/main">
            <a:off x="609600" y="323850"/>
            <a:ext cx="447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C9A86A"/>
                </a:solidFill>
              </a:defRPr>
            </a:pPr>
            <a:r>
              <a:rPr sz="1050" b="1">
                <a:solidFill>
                  <a:srgbClr val="C9A86A"/>
                </a:solidFill>
              </a:rPr>
              <a:t>ARCHITECTURE</a:t>
            </a:r>
          </a:p>
        </p:txBody>
      </p:sp>
      <p:sp>
        <p:nvSpPr>
          <p:cNvPr id="2" name="">
            <a:extLst xmlns:a="http://schemas.openxmlformats.org/drawingml/2006/main">
              <a:ext uri="{FF2B5EF4-FFF2-40B4-BE49-F238E27FC236}">
                <a16:creationId xmlns:a16="http://schemas.microsoft.com/office/drawing/2014/main" id="{C38D6738-A94B-41B9-9231-55571AB8D770}"/>
              </a:ext>
            </a:extLst>
          </p:cNvPr>
          <p:cNvSpPr>
            <a:spLocks xmlns:a="http://schemas.openxmlformats.org/drawingml/2006/main" noGrp="1"/>
          </p:cNvSpPr>
          <p:nvPr/>
        </p:nvSpPr>
        <p:spPr>
          <a:xfrm xmlns:a="http://schemas.openxmlformats.org/drawingml/2006/main">
            <a:off x="609600" y="647700"/>
            <a:ext cx="10934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F4F0E6"/>
                </a:solidFill>
              </a:defRPr>
            </a:pPr>
            <a:r>
              <a:rPr sz="3000" b="1">
                <a:solidFill>
                  <a:srgbClr val="F4F0E6"/>
                </a:solidFill>
              </a:rPr>
              <a:t>One factory model drives every operational decision</a:t>
            </a:r>
          </a:p>
        </p:txBody>
      </p:sp>
      <p:sp>
        <p:nvSpPr>
          <p:cNvPr id="3" name="">
            <a:extLst xmlns:a="http://schemas.openxmlformats.org/drawingml/2006/main">
              <a:ext uri="{FF2B5EF4-FFF2-40B4-BE49-F238E27FC236}">
                <a16:creationId xmlns:a16="http://schemas.microsoft.com/office/drawing/2014/main" id="{8CF35184-F5C7-49A0-B245-471B243278D7}"/>
              </a:ext>
            </a:extLst>
          </p:cNvPr>
          <p:cNvSpPr>
            <a:spLocks xmlns:a="http://schemas.openxmlformats.org/drawingml/2006/main" noGrp="1"/>
          </p:cNvSpPr>
          <p:nvPr/>
        </p:nvSpPr>
        <p:spPr>
          <a:xfrm xmlns:a="http://schemas.openxmlformats.org/drawingml/2006/main">
            <a:off x="609600" y="1238250"/>
            <a:ext cx="10972800" cy="0"/>
          </a:xfrm>
          <a:prstGeom xmlns:a="http://schemas.openxmlformats.org/drawingml/2006/main" prst="line">
            <a:avLst/>
          </a:prstGeom>
          <a:noFill xmlns:a="http://schemas.openxmlformats.org/drawingml/2006/main"/>
          <a:ln xmlns:a="http://schemas.openxmlformats.org/drawingml/2006/main" w="9525">
            <a:solidFill>
              <a:srgbClr val="303731"/>
            </a:solidFill>
            <a:prstDash val="solid"/>
          </a:ln>
        </p:spPr>
      </p:sp>
      <p:sp>
        <p:nvSpPr>
          <p:cNvPr id="4" name="">
            <a:extLst xmlns:a="http://schemas.openxmlformats.org/drawingml/2006/main">
              <a:ext uri="{FF2B5EF4-FFF2-40B4-BE49-F238E27FC236}">
                <a16:creationId xmlns:a16="http://schemas.microsoft.com/office/drawing/2014/main" id="{AEEB04BF-7255-42DA-8885-2F195E51AEA8}"/>
              </a:ext>
            </a:extLst>
          </p:cNvPr>
          <p:cNvSpPr>
            <a:spLocks xmlns:a="http://schemas.openxmlformats.org/drawingml/2006/main" noGrp="1"/>
          </p:cNvSpPr>
          <p:nvPr/>
        </p:nvSpPr>
        <p:spPr>
          <a:xfrm xmlns:a="http://schemas.openxmlformats.org/drawingml/2006/main">
            <a:off x="11106150" y="3238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6F756F"/>
                </a:solidFill>
              </a:defRPr>
            </a:pPr>
            <a:r>
              <a:rPr sz="1050" b="1">
                <a:solidFill>
                  <a:srgbClr val="6F756F"/>
                </a:solidFill>
              </a:rPr>
              <a:t>03</a:t>
            </a:r>
          </a:p>
        </p:txBody>
      </p:sp>
      <p:sp>
        <p:nvSpPr>
          <p:cNvPr id="5" name="">
            <a:extLst xmlns:a="http://schemas.openxmlformats.org/drawingml/2006/main">
              <a:ext uri="{FF2B5EF4-FFF2-40B4-BE49-F238E27FC236}">
                <a16:creationId xmlns:a16="http://schemas.microsoft.com/office/drawing/2014/main" id="{73F368D7-3539-4786-B281-6997C558FF61}"/>
              </a:ext>
            </a:extLst>
          </p:cNvPr>
          <p:cNvSpPr>
            <a:spLocks xmlns:a="http://schemas.openxmlformats.org/drawingml/2006/main" noGrp="1"/>
          </p:cNvSpPr>
          <p:nvPr/>
        </p:nvSpPr>
        <p:spPr>
          <a:xfrm xmlns:a="http://schemas.openxmlformats.org/drawingml/2006/main">
            <a:off x="2266950" y="2724150"/>
            <a:ext cx="514350" cy="285750"/>
          </a:xfrm>
          <a:prstGeom xmlns:a="http://schemas.openxmlformats.org/drawingml/2006/main" prst="rightArrow">
            <a:avLst/>
          </a:prstGeom>
          <a:solidFill xmlns:a="http://schemas.openxmlformats.org/drawingml/2006/main">
            <a:srgbClr val="C9A86A"/>
          </a:solidFill>
          <a:ln xmlns:a="http://schemas.openxmlformats.org/drawingml/2006/main" w="0">
            <a:solidFill>
              <a:srgbClr val="C9A86A"/>
            </a:solidFill>
            <a:prstDash val="solid"/>
          </a:ln>
        </p:spPr>
      </p:sp>
      <p:sp>
        <p:nvSpPr>
          <p:cNvPr id="6" name="">
            <a:extLst xmlns:a="http://schemas.openxmlformats.org/drawingml/2006/main">
              <a:ext uri="{FF2B5EF4-FFF2-40B4-BE49-F238E27FC236}">
                <a16:creationId xmlns:a16="http://schemas.microsoft.com/office/drawing/2014/main" id="{525312F9-73B1-4578-9F9E-21EA653EAEC9}"/>
              </a:ext>
            </a:extLst>
          </p:cNvPr>
          <p:cNvSpPr>
            <a:spLocks xmlns:a="http://schemas.openxmlformats.org/drawingml/2006/main" noGrp="1"/>
          </p:cNvSpPr>
          <p:nvPr/>
        </p:nvSpPr>
        <p:spPr>
          <a:xfrm xmlns:a="http://schemas.openxmlformats.org/drawingml/2006/main">
            <a:off x="4171950" y="2724150"/>
            <a:ext cx="514350" cy="285750"/>
          </a:xfrm>
          <a:prstGeom xmlns:a="http://schemas.openxmlformats.org/drawingml/2006/main" prst="rightArrow">
            <a:avLst/>
          </a:prstGeom>
          <a:solidFill xmlns:a="http://schemas.openxmlformats.org/drawingml/2006/main">
            <a:srgbClr val="C9A86A"/>
          </a:solidFill>
          <a:ln xmlns:a="http://schemas.openxmlformats.org/drawingml/2006/main" w="0">
            <a:solidFill>
              <a:srgbClr val="C9A86A"/>
            </a:solidFill>
            <a:prstDash val="solid"/>
          </a:ln>
        </p:spPr>
      </p:sp>
      <p:sp>
        <p:nvSpPr>
          <p:cNvPr id="7" name="">
            <a:extLst xmlns:a="http://schemas.openxmlformats.org/drawingml/2006/main">
              <a:ext uri="{FF2B5EF4-FFF2-40B4-BE49-F238E27FC236}">
                <a16:creationId xmlns:a16="http://schemas.microsoft.com/office/drawing/2014/main" id="{F8686BF7-B8BF-43CA-9BEA-B5B68FC95B4E}"/>
              </a:ext>
            </a:extLst>
          </p:cNvPr>
          <p:cNvSpPr>
            <a:spLocks xmlns:a="http://schemas.openxmlformats.org/drawingml/2006/main" noGrp="1"/>
          </p:cNvSpPr>
          <p:nvPr/>
        </p:nvSpPr>
        <p:spPr>
          <a:xfrm xmlns:a="http://schemas.openxmlformats.org/drawingml/2006/main">
            <a:off x="6076950" y="2724150"/>
            <a:ext cx="514350" cy="285750"/>
          </a:xfrm>
          <a:prstGeom xmlns:a="http://schemas.openxmlformats.org/drawingml/2006/main" prst="rightArrow">
            <a:avLst/>
          </a:prstGeom>
          <a:solidFill xmlns:a="http://schemas.openxmlformats.org/drawingml/2006/main">
            <a:srgbClr val="C9A86A"/>
          </a:solidFill>
          <a:ln xmlns:a="http://schemas.openxmlformats.org/drawingml/2006/main" w="0">
            <a:solidFill>
              <a:srgbClr val="C9A86A"/>
            </a:solidFill>
            <a:prstDash val="solid"/>
          </a:ln>
        </p:spPr>
      </p:sp>
      <p:sp>
        <p:nvSpPr>
          <p:cNvPr id="8" name="">
            <a:extLst xmlns:a="http://schemas.openxmlformats.org/drawingml/2006/main">
              <a:ext uri="{FF2B5EF4-FFF2-40B4-BE49-F238E27FC236}">
                <a16:creationId xmlns:a16="http://schemas.microsoft.com/office/drawing/2014/main" id="{A580E8FE-F3E8-4249-B6E8-C1E03C33E7FD}"/>
              </a:ext>
            </a:extLst>
          </p:cNvPr>
          <p:cNvSpPr>
            <a:spLocks xmlns:a="http://schemas.openxmlformats.org/drawingml/2006/main" noGrp="1"/>
          </p:cNvSpPr>
          <p:nvPr/>
        </p:nvSpPr>
        <p:spPr>
          <a:xfrm xmlns:a="http://schemas.openxmlformats.org/drawingml/2006/main">
            <a:off x="7981950" y="2724150"/>
            <a:ext cx="514350" cy="285750"/>
          </a:xfrm>
          <a:prstGeom xmlns:a="http://schemas.openxmlformats.org/drawingml/2006/main" prst="rightArrow">
            <a:avLst/>
          </a:prstGeom>
          <a:solidFill xmlns:a="http://schemas.openxmlformats.org/drawingml/2006/main">
            <a:srgbClr val="C9A86A"/>
          </a:solidFill>
          <a:ln xmlns:a="http://schemas.openxmlformats.org/drawingml/2006/main" w="0">
            <a:solidFill>
              <a:srgbClr val="C9A86A"/>
            </a:solidFill>
            <a:prstDash val="solid"/>
          </a:ln>
        </p:spPr>
      </p:sp>
      <p:sp>
        <p:nvSpPr>
          <p:cNvPr id="9" name="">
            <a:extLst xmlns:a="http://schemas.openxmlformats.org/drawingml/2006/main">
              <a:ext uri="{FF2B5EF4-FFF2-40B4-BE49-F238E27FC236}">
                <a16:creationId xmlns:a16="http://schemas.microsoft.com/office/drawing/2014/main" id="{B7BE2D7A-C865-4356-80B1-62CD5D09A7EF}"/>
              </a:ext>
            </a:extLst>
          </p:cNvPr>
          <p:cNvSpPr>
            <a:spLocks xmlns:a="http://schemas.openxmlformats.org/drawingml/2006/main" noGrp="1"/>
          </p:cNvSpPr>
          <p:nvPr/>
        </p:nvSpPr>
        <p:spPr>
          <a:xfrm xmlns:a="http://schemas.openxmlformats.org/drawingml/2006/main">
            <a:off x="9886950" y="2724150"/>
            <a:ext cx="514350" cy="285750"/>
          </a:xfrm>
          <a:prstGeom xmlns:a="http://schemas.openxmlformats.org/drawingml/2006/main" prst="rightArrow">
            <a:avLst/>
          </a:prstGeom>
          <a:solidFill xmlns:a="http://schemas.openxmlformats.org/drawingml/2006/main">
            <a:srgbClr val="C9A86A"/>
          </a:solidFill>
          <a:ln xmlns:a="http://schemas.openxmlformats.org/drawingml/2006/main" w="0">
            <a:solidFill>
              <a:srgbClr val="C9A86A"/>
            </a:solidFill>
            <a:prstDash val="solid"/>
          </a:ln>
        </p:spPr>
      </p:sp>
      <p:sp>
        <p:nvSpPr>
          <p:cNvPr id="10" name="">
            <a:extLst xmlns:a="http://schemas.openxmlformats.org/drawingml/2006/main">
              <a:ext uri="{FF2B5EF4-FFF2-40B4-BE49-F238E27FC236}">
                <a16:creationId xmlns:a16="http://schemas.microsoft.com/office/drawing/2014/main" id="{02765E30-2671-4644-8113-02181156C865}"/>
              </a:ext>
            </a:extLst>
          </p:cNvPr>
          <p:cNvSpPr>
            <a:spLocks xmlns:a="http://schemas.openxmlformats.org/drawingml/2006/main" noGrp="1"/>
          </p:cNvSpPr>
          <p:nvPr/>
        </p:nvSpPr>
        <p:spPr>
          <a:xfrm xmlns:a="http://schemas.openxmlformats.org/drawingml/2006/main">
            <a:off x="3429000" y="3714750"/>
            <a:ext cx="285750" cy="514350"/>
          </a:xfrm>
          <a:prstGeom xmlns:a="http://schemas.openxmlformats.org/drawingml/2006/main" prst="downArrow">
            <a:avLst/>
          </a:prstGeom>
          <a:solidFill xmlns:a="http://schemas.openxmlformats.org/drawingml/2006/main">
            <a:srgbClr val="6F756F"/>
          </a:solidFill>
          <a:ln xmlns:a="http://schemas.openxmlformats.org/drawingml/2006/main" w="0">
            <a:solidFill>
              <a:srgbClr val="6F756F"/>
            </a:solidFill>
            <a:prstDash val="solid"/>
          </a:ln>
        </p:spPr>
      </p:sp>
      <p:sp>
        <p:nvSpPr>
          <p:cNvPr id="11" name="">
            <a:extLst xmlns:a="http://schemas.openxmlformats.org/drawingml/2006/main">
              <a:ext uri="{FF2B5EF4-FFF2-40B4-BE49-F238E27FC236}">
                <a16:creationId xmlns:a16="http://schemas.microsoft.com/office/drawing/2014/main" id="{2226D252-6833-4CE8-A6B9-1CC9992941D2}"/>
              </a:ext>
            </a:extLst>
          </p:cNvPr>
          <p:cNvSpPr>
            <a:spLocks xmlns:a="http://schemas.openxmlformats.org/drawingml/2006/main" noGrp="1"/>
          </p:cNvSpPr>
          <p:nvPr/>
        </p:nvSpPr>
        <p:spPr>
          <a:xfrm xmlns:a="http://schemas.openxmlformats.org/drawingml/2006/main">
            <a:off x="609600" y="2209800"/>
            <a:ext cx="1581150" cy="1314450"/>
          </a:xfrm>
          <a:prstGeom xmlns:a="http://schemas.openxmlformats.org/drawingml/2006/main" prst="roundRect">
            <a:avLst>
              <a:gd name="adj" fmla="val 8696"/>
            </a:avLst>
          </a:prstGeom>
          <a:solidFill xmlns:a="http://schemas.openxmlformats.org/drawingml/2006/main">
            <a:srgbClr val="151917"/>
          </a:solidFill>
          <a:ln xmlns:a="http://schemas.openxmlformats.org/drawingml/2006/main" w="9525">
            <a:solidFill>
              <a:srgbClr val="303731"/>
            </a:solidFill>
            <a:prstDash val="solid"/>
          </a:ln>
        </p:spPr>
      </p:sp>
      <p:sp>
        <p:nvSpPr>
          <p:cNvPr id="12" name="">
            <a:extLst xmlns:a="http://schemas.openxmlformats.org/drawingml/2006/main">
              <a:ext uri="{FF2B5EF4-FFF2-40B4-BE49-F238E27FC236}">
                <a16:creationId xmlns:a16="http://schemas.microsoft.com/office/drawing/2014/main" id="{3998B904-A31D-4E45-AC20-B99432D3E597}"/>
              </a:ext>
            </a:extLst>
          </p:cNvPr>
          <p:cNvSpPr>
            <a:spLocks xmlns:a="http://schemas.openxmlformats.org/drawingml/2006/main" noGrp="1"/>
          </p:cNvSpPr>
          <p:nvPr/>
        </p:nvSpPr>
        <p:spPr>
          <a:xfrm xmlns:a="http://schemas.openxmlformats.org/drawingml/2006/main">
            <a:off x="762000" y="2447925"/>
            <a:ext cx="1276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F4F0E6"/>
                </a:solidFill>
              </a:defRPr>
            </a:pPr>
            <a:r>
              <a:rPr sz="1575" b="1">
                <a:solidFill>
                  <a:srgbClr val="F4F0E6"/>
                </a:solidFill>
              </a:rPr>
              <a:t>React + Vite</a:t>
            </a:r>
          </a:p>
        </p:txBody>
      </p:sp>
      <p:sp>
        <p:nvSpPr>
          <p:cNvPr id="13" name="">
            <a:extLst xmlns:a="http://schemas.openxmlformats.org/drawingml/2006/main">
              <a:ext uri="{FF2B5EF4-FFF2-40B4-BE49-F238E27FC236}">
                <a16:creationId xmlns:a16="http://schemas.microsoft.com/office/drawing/2014/main" id="{C753C415-C61C-41EF-B8BC-33726520917C}"/>
              </a:ext>
            </a:extLst>
          </p:cNvPr>
          <p:cNvSpPr>
            <a:spLocks xmlns:a="http://schemas.openxmlformats.org/drawingml/2006/main" noGrp="1"/>
          </p:cNvSpPr>
          <p:nvPr/>
        </p:nvSpPr>
        <p:spPr>
          <a:xfrm xmlns:a="http://schemas.openxmlformats.org/drawingml/2006/main">
            <a:off x="742950" y="2914650"/>
            <a:ext cx="1314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A7ACA5"/>
                </a:solidFill>
              </a:defRPr>
            </a:pPr>
            <a:r>
              <a:rPr sz="1050" b="0">
                <a:solidFill>
                  <a:srgbClr val="A7ACA5"/>
                </a:solidFill>
              </a:rPr>
              <a:t>Decision interface</a:t>
            </a:r>
          </a:p>
        </p:txBody>
      </p:sp>
      <p:sp>
        <p:nvSpPr>
          <p:cNvPr id="14" name="">
            <a:extLst xmlns:a="http://schemas.openxmlformats.org/drawingml/2006/main">
              <a:ext uri="{FF2B5EF4-FFF2-40B4-BE49-F238E27FC236}">
                <a16:creationId xmlns:a16="http://schemas.microsoft.com/office/drawing/2014/main" id="{5C52DFCD-6003-4F23-A90A-70F3C104197F}"/>
              </a:ext>
            </a:extLst>
          </p:cNvPr>
          <p:cNvSpPr>
            <a:spLocks xmlns:a="http://schemas.openxmlformats.org/drawingml/2006/main" noGrp="1"/>
          </p:cNvSpPr>
          <p:nvPr/>
        </p:nvSpPr>
        <p:spPr>
          <a:xfrm xmlns:a="http://schemas.openxmlformats.org/drawingml/2006/main">
            <a:off x="2514600" y="2209800"/>
            <a:ext cx="1581150" cy="1314450"/>
          </a:xfrm>
          <a:prstGeom xmlns:a="http://schemas.openxmlformats.org/drawingml/2006/main" prst="roundRect">
            <a:avLst>
              <a:gd name="adj" fmla="val 8696"/>
            </a:avLst>
          </a:prstGeom>
          <a:solidFill xmlns:a="http://schemas.openxmlformats.org/drawingml/2006/main">
            <a:srgbClr val="151917"/>
          </a:solidFill>
          <a:ln xmlns:a="http://schemas.openxmlformats.org/drawingml/2006/main" w="9525">
            <a:solidFill>
              <a:srgbClr val="303731"/>
            </a:solidFill>
            <a:prstDash val="solid"/>
          </a:ln>
        </p:spPr>
      </p:sp>
      <p:sp>
        <p:nvSpPr>
          <p:cNvPr id="15" name="">
            <a:extLst xmlns:a="http://schemas.openxmlformats.org/drawingml/2006/main">
              <a:ext uri="{FF2B5EF4-FFF2-40B4-BE49-F238E27FC236}">
                <a16:creationId xmlns:a16="http://schemas.microsoft.com/office/drawing/2014/main" id="{61A3AA8C-BA95-441F-97F1-F8E7DF584CF0}"/>
              </a:ext>
            </a:extLst>
          </p:cNvPr>
          <p:cNvSpPr>
            <a:spLocks xmlns:a="http://schemas.openxmlformats.org/drawingml/2006/main" noGrp="1"/>
          </p:cNvSpPr>
          <p:nvPr/>
        </p:nvSpPr>
        <p:spPr>
          <a:xfrm xmlns:a="http://schemas.openxmlformats.org/drawingml/2006/main">
            <a:off x="2667000" y="2447925"/>
            <a:ext cx="1276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F4F0E6"/>
                </a:solidFill>
              </a:defRPr>
            </a:pPr>
            <a:r>
              <a:rPr sz="1575" b="1">
                <a:solidFill>
                  <a:srgbClr val="F4F0E6"/>
                </a:solidFill>
              </a:rPr>
              <a:t>FastAPI</a:t>
            </a:r>
          </a:p>
        </p:txBody>
      </p:sp>
      <p:sp>
        <p:nvSpPr>
          <p:cNvPr id="16" name="">
            <a:extLst xmlns:a="http://schemas.openxmlformats.org/drawingml/2006/main">
              <a:ext uri="{FF2B5EF4-FFF2-40B4-BE49-F238E27FC236}">
                <a16:creationId xmlns:a16="http://schemas.microsoft.com/office/drawing/2014/main" id="{C930694B-9C66-469B-BFFD-A985DE906520}"/>
              </a:ext>
            </a:extLst>
          </p:cNvPr>
          <p:cNvSpPr>
            <a:spLocks xmlns:a="http://schemas.openxmlformats.org/drawingml/2006/main" noGrp="1"/>
          </p:cNvSpPr>
          <p:nvPr/>
        </p:nvSpPr>
        <p:spPr>
          <a:xfrm xmlns:a="http://schemas.openxmlformats.org/drawingml/2006/main">
            <a:off x="2647950" y="2914650"/>
            <a:ext cx="1314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A7ACA5"/>
                </a:solidFill>
              </a:defRPr>
            </a:pPr>
            <a:r>
              <a:rPr sz="1050" b="0">
                <a:solidFill>
                  <a:srgbClr val="A7ACA5"/>
                </a:solidFill>
              </a:rPr>
              <a:t>Typed REST contract</a:t>
            </a:r>
          </a:p>
        </p:txBody>
      </p:sp>
      <p:sp>
        <p:nvSpPr>
          <p:cNvPr id="17" name="">
            <a:extLst xmlns:a="http://schemas.openxmlformats.org/drawingml/2006/main">
              <a:ext uri="{FF2B5EF4-FFF2-40B4-BE49-F238E27FC236}">
                <a16:creationId xmlns:a16="http://schemas.microsoft.com/office/drawing/2014/main" id="{5256E8BE-E94B-458D-8B5C-E9EF05A6CCD5}"/>
              </a:ext>
            </a:extLst>
          </p:cNvPr>
          <p:cNvSpPr>
            <a:spLocks xmlns:a="http://schemas.openxmlformats.org/drawingml/2006/main" noGrp="1"/>
          </p:cNvSpPr>
          <p:nvPr/>
        </p:nvSpPr>
        <p:spPr>
          <a:xfrm xmlns:a="http://schemas.openxmlformats.org/drawingml/2006/main">
            <a:off x="4419600" y="2209800"/>
            <a:ext cx="1581150" cy="1314450"/>
          </a:xfrm>
          <a:prstGeom xmlns:a="http://schemas.openxmlformats.org/drawingml/2006/main" prst="roundRect">
            <a:avLst>
              <a:gd name="adj" fmla="val 8696"/>
            </a:avLst>
          </a:prstGeom>
          <a:solidFill xmlns:a="http://schemas.openxmlformats.org/drawingml/2006/main">
            <a:srgbClr val="151917"/>
          </a:solidFill>
          <a:ln xmlns:a="http://schemas.openxmlformats.org/drawingml/2006/main" w="9525">
            <a:solidFill>
              <a:srgbClr val="303731"/>
            </a:solidFill>
            <a:prstDash val="solid"/>
          </a:ln>
        </p:spPr>
      </p:sp>
      <p:sp>
        <p:nvSpPr>
          <p:cNvPr id="18" name="">
            <a:extLst xmlns:a="http://schemas.openxmlformats.org/drawingml/2006/main">
              <a:ext uri="{FF2B5EF4-FFF2-40B4-BE49-F238E27FC236}">
                <a16:creationId xmlns:a16="http://schemas.microsoft.com/office/drawing/2014/main" id="{5F3203F9-4F16-44E3-BD7F-814DC918043A}"/>
              </a:ext>
            </a:extLst>
          </p:cNvPr>
          <p:cNvSpPr>
            <a:spLocks xmlns:a="http://schemas.openxmlformats.org/drawingml/2006/main" noGrp="1"/>
          </p:cNvSpPr>
          <p:nvPr/>
        </p:nvSpPr>
        <p:spPr>
          <a:xfrm xmlns:a="http://schemas.openxmlformats.org/drawingml/2006/main">
            <a:off x="4572000" y="2447925"/>
            <a:ext cx="1276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F4F0E6"/>
                </a:solidFill>
              </a:defRPr>
            </a:pPr>
            <a:r>
              <a:rPr sz="1575" b="1">
                <a:solidFill>
                  <a:srgbClr val="F4F0E6"/>
                </a:solidFill>
              </a:rPr>
              <a:t>Planning domain</a:t>
            </a:r>
          </a:p>
        </p:txBody>
      </p:sp>
      <p:sp>
        <p:nvSpPr>
          <p:cNvPr id="19" name="">
            <a:extLst xmlns:a="http://schemas.openxmlformats.org/drawingml/2006/main">
              <a:ext uri="{FF2B5EF4-FFF2-40B4-BE49-F238E27FC236}">
                <a16:creationId xmlns:a16="http://schemas.microsoft.com/office/drawing/2014/main" id="{6805BE85-940E-4DA0-9FFD-11D8184C9770}"/>
              </a:ext>
            </a:extLst>
          </p:cNvPr>
          <p:cNvSpPr>
            <a:spLocks xmlns:a="http://schemas.openxmlformats.org/drawingml/2006/main" noGrp="1"/>
          </p:cNvSpPr>
          <p:nvPr/>
        </p:nvSpPr>
        <p:spPr>
          <a:xfrm xmlns:a="http://schemas.openxmlformats.org/drawingml/2006/main">
            <a:off x="4552950" y="2914650"/>
            <a:ext cx="1314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A7ACA5"/>
                </a:solidFill>
              </a:defRPr>
            </a:pPr>
            <a:r>
              <a:rPr sz="1050" b="0">
                <a:solidFill>
                  <a:srgbClr val="A7ACA5"/>
                </a:solidFill>
              </a:rPr>
              <a:t>Immutable factory state</a:t>
            </a:r>
          </a:p>
        </p:txBody>
      </p:sp>
      <p:sp>
        <p:nvSpPr>
          <p:cNvPr id="20" name="">
            <a:extLst xmlns:a="http://schemas.openxmlformats.org/drawingml/2006/main">
              <a:ext uri="{FF2B5EF4-FFF2-40B4-BE49-F238E27FC236}">
                <a16:creationId xmlns:a16="http://schemas.microsoft.com/office/drawing/2014/main" id="{0AA00352-7AE2-45DE-A8ED-9B791C6A6F16}"/>
              </a:ext>
            </a:extLst>
          </p:cNvPr>
          <p:cNvSpPr>
            <a:spLocks xmlns:a="http://schemas.openxmlformats.org/drawingml/2006/main" noGrp="1"/>
          </p:cNvSpPr>
          <p:nvPr/>
        </p:nvSpPr>
        <p:spPr>
          <a:xfrm xmlns:a="http://schemas.openxmlformats.org/drawingml/2006/main">
            <a:off x="6324600" y="2209800"/>
            <a:ext cx="1581150" cy="1314450"/>
          </a:xfrm>
          <a:prstGeom xmlns:a="http://schemas.openxmlformats.org/drawingml/2006/main" prst="roundRect">
            <a:avLst>
              <a:gd name="adj" fmla="val 8696"/>
            </a:avLst>
          </a:prstGeom>
          <a:solidFill xmlns:a="http://schemas.openxmlformats.org/drawingml/2006/main">
            <a:srgbClr val="151917"/>
          </a:solidFill>
          <a:ln xmlns:a="http://schemas.openxmlformats.org/drawingml/2006/main" w="9525">
            <a:solidFill>
              <a:srgbClr val="303731"/>
            </a:solidFill>
            <a:prstDash val="solid"/>
          </a:ln>
        </p:spPr>
      </p:sp>
      <p:sp>
        <p:nvSpPr>
          <p:cNvPr id="21" name="">
            <a:extLst xmlns:a="http://schemas.openxmlformats.org/drawingml/2006/main">
              <a:ext uri="{FF2B5EF4-FFF2-40B4-BE49-F238E27FC236}">
                <a16:creationId xmlns:a16="http://schemas.microsoft.com/office/drawing/2014/main" id="{03574B85-7877-4B90-BD11-A6B0ABCEAF1D}"/>
              </a:ext>
            </a:extLst>
          </p:cNvPr>
          <p:cNvSpPr>
            <a:spLocks xmlns:a="http://schemas.openxmlformats.org/drawingml/2006/main" noGrp="1"/>
          </p:cNvSpPr>
          <p:nvPr/>
        </p:nvSpPr>
        <p:spPr>
          <a:xfrm xmlns:a="http://schemas.openxmlformats.org/drawingml/2006/main">
            <a:off x="6477000" y="2447925"/>
            <a:ext cx="1276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E2C48C"/>
                </a:solidFill>
              </a:defRPr>
            </a:pPr>
            <a:r>
              <a:rPr sz="1575" b="1">
                <a:solidFill>
                  <a:srgbClr val="E2C48C"/>
                </a:solidFill>
              </a:rPr>
              <a:t>CP-SAT</a:t>
            </a:r>
          </a:p>
        </p:txBody>
      </p:sp>
      <p:sp>
        <p:nvSpPr>
          <p:cNvPr id="22" name="">
            <a:extLst xmlns:a="http://schemas.openxmlformats.org/drawingml/2006/main">
              <a:ext uri="{FF2B5EF4-FFF2-40B4-BE49-F238E27FC236}">
                <a16:creationId xmlns:a16="http://schemas.microsoft.com/office/drawing/2014/main" id="{304B8AE9-A5DD-4E56-B804-768381A18440}"/>
              </a:ext>
            </a:extLst>
          </p:cNvPr>
          <p:cNvSpPr>
            <a:spLocks xmlns:a="http://schemas.openxmlformats.org/drawingml/2006/main" noGrp="1"/>
          </p:cNvSpPr>
          <p:nvPr/>
        </p:nvSpPr>
        <p:spPr>
          <a:xfrm xmlns:a="http://schemas.openxmlformats.org/drawingml/2006/main">
            <a:off x="6457950" y="2914650"/>
            <a:ext cx="1314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A7ACA5"/>
                </a:solidFill>
              </a:defRPr>
            </a:pPr>
            <a:r>
              <a:rPr sz="1050" b="0">
                <a:solidFill>
                  <a:srgbClr val="A7ACA5"/>
                </a:solidFill>
              </a:rPr>
              <a:t>Assignments + intervals</a:t>
            </a:r>
          </a:p>
        </p:txBody>
      </p:sp>
      <p:sp>
        <p:nvSpPr>
          <p:cNvPr id="23" name="">
            <a:extLst xmlns:a="http://schemas.openxmlformats.org/drawingml/2006/main">
              <a:ext uri="{FF2B5EF4-FFF2-40B4-BE49-F238E27FC236}">
                <a16:creationId xmlns:a16="http://schemas.microsoft.com/office/drawing/2014/main" id="{AF6E0529-53AA-41D4-871F-F0CC5F19F700}"/>
              </a:ext>
            </a:extLst>
          </p:cNvPr>
          <p:cNvSpPr>
            <a:spLocks xmlns:a="http://schemas.openxmlformats.org/drawingml/2006/main" noGrp="1"/>
          </p:cNvSpPr>
          <p:nvPr/>
        </p:nvSpPr>
        <p:spPr>
          <a:xfrm xmlns:a="http://schemas.openxmlformats.org/drawingml/2006/main">
            <a:off x="8229600" y="2209800"/>
            <a:ext cx="1581150" cy="1314450"/>
          </a:xfrm>
          <a:prstGeom xmlns:a="http://schemas.openxmlformats.org/drawingml/2006/main" prst="roundRect">
            <a:avLst>
              <a:gd name="adj" fmla="val 8696"/>
            </a:avLst>
          </a:prstGeom>
          <a:solidFill xmlns:a="http://schemas.openxmlformats.org/drawingml/2006/main">
            <a:srgbClr val="151917"/>
          </a:solidFill>
          <a:ln xmlns:a="http://schemas.openxmlformats.org/drawingml/2006/main" w="9525">
            <a:solidFill>
              <a:srgbClr val="303731"/>
            </a:solidFill>
            <a:prstDash val="solid"/>
          </a:ln>
        </p:spPr>
      </p:sp>
      <p:sp>
        <p:nvSpPr>
          <p:cNvPr id="24" name="">
            <a:extLst xmlns:a="http://schemas.openxmlformats.org/drawingml/2006/main">
              <a:ext uri="{FF2B5EF4-FFF2-40B4-BE49-F238E27FC236}">
                <a16:creationId xmlns:a16="http://schemas.microsoft.com/office/drawing/2014/main" id="{30814643-5C1A-4A8F-B7B4-0A37C9FB620A}"/>
              </a:ext>
            </a:extLst>
          </p:cNvPr>
          <p:cNvSpPr>
            <a:spLocks xmlns:a="http://schemas.openxmlformats.org/drawingml/2006/main" noGrp="1"/>
          </p:cNvSpPr>
          <p:nvPr/>
        </p:nvSpPr>
        <p:spPr>
          <a:xfrm xmlns:a="http://schemas.openxmlformats.org/drawingml/2006/main">
            <a:off x="8382000" y="2447925"/>
            <a:ext cx="1276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F4F0E6"/>
                </a:solidFill>
              </a:defRPr>
            </a:pPr>
            <a:r>
              <a:rPr sz="1575" b="1">
                <a:solidFill>
                  <a:srgbClr val="F4F0E6"/>
                </a:solidFill>
              </a:rPr>
              <a:t>Validator</a:t>
            </a:r>
          </a:p>
        </p:txBody>
      </p:sp>
      <p:sp>
        <p:nvSpPr>
          <p:cNvPr id="25" name="">
            <a:extLst xmlns:a="http://schemas.openxmlformats.org/drawingml/2006/main">
              <a:ext uri="{FF2B5EF4-FFF2-40B4-BE49-F238E27FC236}">
                <a16:creationId xmlns:a16="http://schemas.microsoft.com/office/drawing/2014/main" id="{0659757E-C72D-4D56-B3D5-1E077B6D7606}"/>
              </a:ext>
            </a:extLst>
          </p:cNvPr>
          <p:cNvSpPr>
            <a:spLocks xmlns:a="http://schemas.openxmlformats.org/drawingml/2006/main" noGrp="1"/>
          </p:cNvSpPr>
          <p:nvPr/>
        </p:nvSpPr>
        <p:spPr>
          <a:xfrm xmlns:a="http://schemas.openxmlformats.org/drawingml/2006/main">
            <a:off x="8362950" y="2914650"/>
            <a:ext cx="1314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A7ACA5"/>
                </a:solidFill>
              </a:defRPr>
            </a:pPr>
            <a:r>
              <a:rPr sz="1050" b="0">
                <a:solidFill>
                  <a:srgbClr val="A7ACA5"/>
                </a:solidFill>
              </a:rPr>
              <a:t>Independent feasibility</a:t>
            </a:r>
          </a:p>
        </p:txBody>
      </p:sp>
      <p:sp>
        <p:nvSpPr>
          <p:cNvPr id="26" name="">
            <a:extLst xmlns:a="http://schemas.openxmlformats.org/drawingml/2006/main">
              <a:ext uri="{FF2B5EF4-FFF2-40B4-BE49-F238E27FC236}">
                <a16:creationId xmlns:a16="http://schemas.microsoft.com/office/drawing/2014/main" id="{776EBA3A-7862-4038-83A4-4C26B89E7676}"/>
              </a:ext>
            </a:extLst>
          </p:cNvPr>
          <p:cNvSpPr>
            <a:spLocks xmlns:a="http://schemas.openxmlformats.org/drawingml/2006/main" noGrp="1"/>
          </p:cNvSpPr>
          <p:nvPr/>
        </p:nvSpPr>
        <p:spPr>
          <a:xfrm xmlns:a="http://schemas.openxmlformats.org/drawingml/2006/main">
            <a:off x="10134600" y="2209800"/>
            <a:ext cx="1581150" cy="1314450"/>
          </a:xfrm>
          <a:prstGeom xmlns:a="http://schemas.openxmlformats.org/drawingml/2006/main" prst="roundRect">
            <a:avLst>
              <a:gd name="adj" fmla="val 8696"/>
            </a:avLst>
          </a:prstGeom>
          <a:solidFill xmlns:a="http://schemas.openxmlformats.org/drawingml/2006/main">
            <a:srgbClr val="151917"/>
          </a:solidFill>
          <a:ln xmlns:a="http://schemas.openxmlformats.org/drawingml/2006/main" w="9525">
            <a:solidFill>
              <a:srgbClr val="303731"/>
            </a:solidFill>
            <a:prstDash val="solid"/>
          </a:ln>
        </p:spPr>
      </p:sp>
      <p:sp>
        <p:nvSpPr>
          <p:cNvPr id="27" name="">
            <a:extLst xmlns:a="http://schemas.openxmlformats.org/drawingml/2006/main">
              <a:ext uri="{FF2B5EF4-FFF2-40B4-BE49-F238E27FC236}">
                <a16:creationId xmlns:a16="http://schemas.microsoft.com/office/drawing/2014/main" id="{4B913294-76A7-424B-B9D7-E5831E58A7BA}"/>
              </a:ext>
            </a:extLst>
          </p:cNvPr>
          <p:cNvSpPr>
            <a:spLocks xmlns:a="http://schemas.openxmlformats.org/drawingml/2006/main" noGrp="1"/>
          </p:cNvSpPr>
          <p:nvPr/>
        </p:nvSpPr>
        <p:spPr>
          <a:xfrm xmlns:a="http://schemas.openxmlformats.org/drawingml/2006/main">
            <a:off x="10287000" y="2447925"/>
            <a:ext cx="1276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F4F0E6"/>
                </a:solidFill>
              </a:defRPr>
            </a:pPr>
            <a:r>
              <a:rPr sz="1575" b="1">
                <a:solidFill>
                  <a:srgbClr val="F4F0E6"/>
                </a:solidFill>
              </a:rPr>
              <a:t>Services</a:t>
            </a:r>
          </a:p>
        </p:txBody>
      </p:sp>
      <p:sp>
        <p:nvSpPr>
          <p:cNvPr id="28" name="">
            <a:extLst xmlns:a="http://schemas.openxmlformats.org/drawingml/2006/main">
              <a:ext uri="{FF2B5EF4-FFF2-40B4-BE49-F238E27FC236}">
                <a16:creationId xmlns:a16="http://schemas.microsoft.com/office/drawing/2014/main" id="{F3CEA17B-0069-4FE3-80CD-F5AC102F83A8}"/>
              </a:ext>
            </a:extLst>
          </p:cNvPr>
          <p:cNvSpPr>
            <a:spLocks xmlns:a="http://schemas.openxmlformats.org/drawingml/2006/main" noGrp="1"/>
          </p:cNvSpPr>
          <p:nvPr/>
        </p:nvSpPr>
        <p:spPr>
          <a:xfrm xmlns:a="http://schemas.openxmlformats.org/drawingml/2006/main">
            <a:off x="10267950" y="2914650"/>
            <a:ext cx="1314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A7ACA5"/>
                </a:solidFill>
              </a:defRPr>
            </a:pPr>
            <a:r>
              <a:rPr sz="1050" b="0">
                <a:solidFill>
                  <a:srgbClr val="A7ACA5"/>
                </a:solidFill>
              </a:rPr>
              <a:t>RFQ · risk · replan</a:t>
            </a:r>
          </a:p>
        </p:txBody>
      </p:sp>
      <p:sp>
        <p:nvSpPr>
          <p:cNvPr id="29" name="">
            <a:extLst xmlns:a="http://schemas.openxmlformats.org/drawingml/2006/main">
              <a:ext uri="{FF2B5EF4-FFF2-40B4-BE49-F238E27FC236}">
                <a16:creationId xmlns:a16="http://schemas.microsoft.com/office/drawing/2014/main" id="{47CE4A68-51E8-4BD8-B7B7-18457679F70D}"/>
              </a:ext>
            </a:extLst>
          </p:cNvPr>
          <p:cNvSpPr>
            <a:spLocks xmlns:a="http://schemas.openxmlformats.org/drawingml/2006/main" noGrp="1"/>
          </p:cNvSpPr>
          <p:nvPr/>
        </p:nvSpPr>
        <p:spPr>
          <a:xfrm xmlns:a="http://schemas.openxmlformats.org/drawingml/2006/main">
            <a:off x="2609850" y="4286250"/>
            <a:ext cx="1943100" cy="1028700"/>
          </a:xfrm>
          <a:prstGeom xmlns:a="http://schemas.openxmlformats.org/drawingml/2006/main" prst="roundRect">
            <a:avLst>
              <a:gd name="adj" fmla="val 11111"/>
            </a:avLst>
          </a:prstGeom>
          <a:solidFill xmlns:a="http://schemas.openxmlformats.org/drawingml/2006/main">
            <a:srgbClr val="1B201D"/>
          </a:solidFill>
          <a:ln xmlns:a="http://schemas.openxmlformats.org/drawingml/2006/main" w="9525">
            <a:solidFill>
              <a:srgbClr val="303731"/>
            </a:solidFill>
            <a:prstDash val="solid"/>
          </a:ln>
        </p:spPr>
      </p:sp>
      <p:sp>
        <p:nvSpPr>
          <p:cNvPr id="30" name="">
            <a:extLst xmlns:a="http://schemas.openxmlformats.org/drawingml/2006/main">
              <a:ext uri="{FF2B5EF4-FFF2-40B4-BE49-F238E27FC236}">
                <a16:creationId xmlns:a16="http://schemas.microsoft.com/office/drawing/2014/main" id="{01F4547D-FEF5-4680-BA8E-9220AE8306D0}"/>
              </a:ext>
            </a:extLst>
          </p:cNvPr>
          <p:cNvSpPr>
            <a:spLocks xmlns:a="http://schemas.openxmlformats.org/drawingml/2006/main" noGrp="1"/>
          </p:cNvSpPr>
          <p:nvPr/>
        </p:nvSpPr>
        <p:spPr>
          <a:xfrm xmlns:a="http://schemas.openxmlformats.org/drawingml/2006/main">
            <a:off x="2800350" y="4476750"/>
            <a:ext cx="1562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F4F0E6"/>
                </a:solidFill>
              </a:defRPr>
            </a:pPr>
            <a:r>
              <a:rPr sz="1575" b="1">
                <a:solidFill>
                  <a:srgbClr val="F4F0E6"/>
                </a:solidFill>
              </a:rPr>
              <a:t>SQLAlchemy</a:t>
            </a:r>
          </a:p>
        </p:txBody>
      </p:sp>
      <p:sp>
        <p:nvSpPr>
          <p:cNvPr id="31" name="">
            <a:extLst xmlns:a="http://schemas.openxmlformats.org/drawingml/2006/main">
              <a:ext uri="{FF2B5EF4-FFF2-40B4-BE49-F238E27FC236}">
                <a16:creationId xmlns:a16="http://schemas.microsoft.com/office/drawing/2014/main" id="{CD1E8628-182A-444D-A2B0-836CF05D4C3C}"/>
              </a:ext>
            </a:extLst>
          </p:cNvPr>
          <p:cNvSpPr>
            <a:spLocks xmlns:a="http://schemas.openxmlformats.org/drawingml/2006/main" noGrp="1"/>
          </p:cNvSpPr>
          <p:nvPr/>
        </p:nvSpPr>
        <p:spPr>
          <a:xfrm xmlns:a="http://schemas.openxmlformats.org/drawingml/2006/main">
            <a:off x="2800350" y="4819650"/>
            <a:ext cx="156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A7ACA5"/>
                </a:solidFill>
              </a:defRPr>
            </a:pPr>
            <a:r>
              <a:rPr sz="1050" b="0">
                <a:solidFill>
                  <a:srgbClr val="A7ACA5"/>
                </a:solidFill>
              </a:rPr>
              <a:t>SQLite locally</a:t>
            </a:r>
          </a:p>
          <a:p xmlns:a="http://schemas.openxmlformats.org/drawingml/2006/main">
            <a:pPr algn="ctr">
              <a:defRPr sz="1050" b="0">
                <a:solidFill>
                  <a:srgbClr val="A7ACA5"/>
                </a:solidFill>
              </a:defRPr>
            </a:pPr>
            <a:r>
              <a:rPr sz="1050" b="0">
                <a:solidFill>
                  <a:srgbClr val="A7ACA5"/>
                </a:solidFill>
              </a:rPr>
              <a:t>PostgreSQL-ready</a:t>
            </a:r>
          </a:p>
        </p:txBody>
      </p:sp>
      <p:sp>
        <p:nvSpPr>
          <p:cNvPr id="32" name="">
            <a:extLst xmlns:a="http://schemas.openxmlformats.org/drawingml/2006/main">
              <a:ext uri="{FF2B5EF4-FFF2-40B4-BE49-F238E27FC236}">
                <a16:creationId xmlns:a16="http://schemas.microsoft.com/office/drawing/2014/main" id="{3637B080-A563-43DC-9C50-859C649CD924}"/>
              </a:ext>
            </a:extLst>
          </p:cNvPr>
          <p:cNvSpPr>
            <a:spLocks xmlns:a="http://schemas.openxmlformats.org/drawingml/2006/main" noGrp="1"/>
          </p:cNvSpPr>
          <p:nvPr/>
        </p:nvSpPr>
        <p:spPr>
          <a:xfrm xmlns:a="http://schemas.openxmlformats.org/drawingml/2006/main">
            <a:off x="1504950" y="57721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E2C48C"/>
                </a:solidFill>
              </a:defRPr>
            </a:pPr>
            <a:r>
              <a:rPr sz="1725" b="1">
                <a:solidFill>
                  <a:srgbClr val="E2C48C"/>
                </a:solidFill>
              </a:rPr>
              <a:t>The same state powers scheduling, capacity, order acceptance, risk, profitability, simulation and recovery.</a:t>
            </a:r>
          </a:p>
        </p:txBody>
      </p:sp>
      <p:sp>
        <p:nvSpPr>
          <p:cNvPr id="33" name="">
            <a:extLst xmlns:a="http://schemas.openxmlformats.org/drawingml/2006/main">
              <a:ext uri="{FF2B5EF4-FFF2-40B4-BE49-F238E27FC236}">
                <a16:creationId xmlns:a16="http://schemas.microsoft.com/office/drawing/2014/main" id="{3590D815-601F-4E12-B2CA-6C262E502761}"/>
              </a:ext>
            </a:extLst>
          </p:cNvPr>
          <p:cNvSpPr>
            <a:spLocks xmlns:a="http://schemas.openxmlformats.org/drawingml/2006/main" noGrp="1"/>
          </p:cNvSpPr>
          <p:nvPr/>
        </p:nvSpPr>
        <p:spPr>
          <a:xfrm xmlns:a="http://schemas.openxmlformats.org/drawingml/2006/main">
            <a:off x="609600" y="65532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6F756F"/>
                </a:solidFill>
              </a:defRPr>
            </a:pPr>
            <a:r>
              <a:rPr sz="825" b="1">
                <a:solidFill>
                  <a:srgbClr val="6F756F"/>
                </a:solidFill>
              </a:rPr>
              <a:t>SMARTFORGE · FINITE-CAPACITY MANUFACTURING DECISIONS</a:t>
            </a:r>
          </a:p>
        </p:txBody>
      </p:sp>
    </p:spTree>
    <p:extLst>
      <p:ext uri="{BB962C8B-B14F-4D97-AF65-F5344CB8AC3E}">
        <p14:creationId xmlns:p14="http://schemas.microsoft.com/office/powerpoint/2010/main" val="103377680"/>
      </p:ext>
    </p:extLst>
  </p:cSld>
</p:sld>
</file>

<file path=ppt/slides/slide4.xml><?xml version="1.0" encoding="utf-8"?>
<p:sld xmlns:p="http://schemas.openxmlformats.org/presentationml/2006/main">
  <p:cSld>
    <p:bg>
      <p:bgPr>
        <a:solidFill xmlns:a="http://schemas.openxmlformats.org/drawingml/2006/main">
          <a:srgbClr val="0B0E0D"/>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C749D62-58DA-4866-B3BD-CD08CBB0D2A1}"/>
              </a:ext>
            </a:extLst>
          </p:cNvPr>
          <p:cNvSpPr>
            <a:spLocks xmlns:a="http://schemas.openxmlformats.org/drawingml/2006/main" noGrp="1"/>
          </p:cNvSpPr>
          <p:nvPr/>
        </p:nvSpPr>
        <p:spPr>
          <a:xfrm xmlns:a="http://schemas.openxmlformats.org/drawingml/2006/main">
            <a:off x="609600" y="323850"/>
            <a:ext cx="447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C9A86A"/>
                </a:solidFill>
              </a:defRPr>
            </a:pPr>
            <a:r>
              <a:rPr sz="1050" b="1">
                <a:solidFill>
                  <a:srgbClr val="C9A86A"/>
                </a:solidFill>
              </a:rPr>
              <a:t>FINITE-CAPACITY SCHEDULING</a:t>
            </a:r>
          </a:p>
        </p:txBody>
      </p:sp>
      <p:sp>
        <p:nvSpPr>
          <p:cNvPr id="2" name="">
            <a:extLst xmlns:a="http://schemas.openxmlformats.org/drawingml/2006/main">
              <a:ext uri="{FF2B5EF4-FFF2-40B4-BE49-F238E27FC236}">
                <a16:creationId xmlns:a16="http://schemas.microsoft.com/office/drawing/2014/main" id="{B1F4A9FE-20EE-4CA2-B065-A6FADC38FFFB}"/>
              </a:ext>
            </a:extLst>
          </p:cNvPr>
          <p:cNvSpPr>
            <a:spLocks xmlns:a="http://schemas.openxmlformats.org/drawingml/2006/main" noGrp="1"/>
          </p:cNvSpPr>
          <p:nvPr/>
        </p:nvSpPr>
        <p:spPr>
          <a:xfrm xmlns:a="http://schemas.openxmlformats.org/drawingml/2006/main">
            <a:off x="609600" y="647700"/>
            <a:ext cx="10934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F4F0E6"/>
                </a:solidFill>
              </a:defRPr>
            </a:pPr>
            <a:r>
              <a:rPr sz="3000" b="1">
                <a:solidFill>
                  <a:srgbClr val="F4F0E6"/>
                </a:solidFill>
              </a:rPr>
              <a:t>The Gantt is a validated plan—not a decorative timeline</a:t>
            </a:r>
          </a:p>
        </p:txBody>
      </p:sp>
      <p:sp>
        <p:nvSpPr>
          <p:cNvPr id="3" name="">
            <a:extLst xmlns:a="http://schemas.openxmlformats.org/drawingml/2006/main">
              <a:ext uri="{FF2B5EF4-FFF2-40B4-BE49-F238E27FC236}">
                <a16:creationId xmlns:a16="http://schemas.microsoft.com/office/drawing/2014/main" id="{D1D588DC-4C61-41B2-9F9B-B31ADF739BA3}"/>
              </a:ext>
            </a:extLst>
          </p:cNvPr>
          <p:cNvSpPr>
            <a:spLocks xmlns:a="http://schemas.openxmlformats.org/drawingml/2006/main" noGrp="1"/>
          </p:cNvSpPr>
          <p:nvPr/>
        </p:nvSpPr>
        <p:spPr>
          <a:xfrm xmlns:a="http://schemas.openxmlformats.org/drawingml/2006/main">
            <a:off x="609600" y="1238250"/>
            <a:ext cx="10972800" cy="0"/>
          </a:xfrm>
          <a:prstGeom xmlns:a="http://schemas.openxmlformats.org/drawingml/2006/main" prst="line">
            <a:avLst/>
          </a:prstGeom>
          <a:noFill xmlns:a="http://schemas.openxmlformats.org/drawingml/2006/main"/>
          <a:ln xmlns:a="http://schemas.openxmlformats.org/drawingml/2006/main" w="9525">
            <a:solidFill>
              <a:srgbClr val="303731"/>
            </a:solidFill>
            <a:prstDash val="solid"/>
          </a:ln>
        </p:spPr>
      </p:sp>
      <p:sp>
        <p:nvSpPr>
          <p:cNvPr id="4" name="">
            <a:extLst xmlns:a="http://schemas.openxmlformats.org/drawingml/2006/main">
              <a:ext uri="{FF2B5EF4-FFF2-40B4-BE49-F238E27FC236}">
                <a16:creationId xmlns:a16="http://schemas.microsoft.com/office/drawing/2014/main" id="{B3138A7D-6A81-4AC8-AC78-7BB062873E1F}"/>
              </a:ext>
            </a:extLst>
          </p:cNvPr>
          <p:cNvSpPr>
            <a:spLocks xmlns:a="http://schemas.openxmlformats.org/drawingml/2006/main" noGrp="1"/>
          </p:cNvSpPr>
          <p:nvPr/>
        </p:nvSpPr>
        <p:spPr>
          <a:xfrm xmlns:a="http://schemas.openxmlformats.org/drawingml/2006/main">
            <a:off x="11106150" y="3238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6F756F"/>
                </a:solidFill>
              </a:defRPr>
            </a:pPr>
            <a:r>
              <a:rPr sz="1050" b="1">
                <a:solidFill>
                  <a:srgbClr val="6F756F"/>
                </a:solidFill>
              </a:rPr>
              <a:t>04</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22505cffb14b4cea"/>
          <a:srcRect xmlns:a="http://schemas.openxmlformats.org/drawingml/2006/main" l="0" t="526" r="0" b="526"/>
          <a:stretch xmlns:a="http://schemas.openxmlformats.org/drawingml/2006/main">
            <a:fillRect l="0" t="0" r="0" b="0"/>
          </a:stretch>
        </p:blipFill>
        <p:spPr>
          <a:xfrm xmlns:a="http://schemas.openxmlformats.org/drawingml/2006/main">
            <a:off x="609600" y="1504950"/>
            <a:ext cx="8248650" cy="4591050"/>
          </a:xfrm>
          <a:prstGeom xmlns:a="http://schemas.openxmlformats.org/drawingml/2006/main" prst="roundRect">
            <a:avLst>
              <a:gd name="adj" fmla="val 2905"/>
            </a:avLst>
          </a:prstGeom>
        </p:spPr>
      </p:pic>
      <p:sp>
        <p:nvSpPr>
          <p:cNvPr id="6" name="">
            <a:extLst xmlns:a="http://schemas.openxmlformats.org/drawingml/2006/main">
              <a:ext uri="{FF2B5EF4-FFF2-40B4-BE49-F238E27FC236}">
                <a16:creationId xmlns:a16="http://schemas.microsoft.com/office/drawing/2014/main" id="{6765AA96-76A5-41CD-B5D6-7C47F34ABEA0}"/>
              </a:ext>
            </a:extLst>
          </p:cNvPr>
          <p:cNvSpPr>
            <a:spLocks xmlns:a="http://schemas.openxmlformats.org/drawingml/2006/main" noGrp="1"/>
          </p:cNvSpPr>
          <p:nvPr/>
        </p:nvSpPr>
        <p:spPr>
          <a:xfrm xmlns:a="http://schemas.openxmlformats.org/drawingml/2006/main">
            <a:off x="609600" y="1504950"/>
            <a:ext cx="8248650" cy="4591050"/>
          </a:xfrm>
          <a:prstGeom xmlns:a="http://schemas.openxmlformats.org/drawingml/2006/main" prst="roundRect">
            <a:avLst>
              <a:gd name="adj" fmla="val 2905"/>
            </a:avLst>
          </a:prstGeom>
          <a:noFill xmlns:a="http://schemas.openxmlformats.org/drawingml/2006/main"/>
          <a:ln xmlns:a="http://schemas.openxmlformats.org/drawingml/2006/main" w="9525">
            <a:solidFill>
              <a:srgbClr val="303731"/>
            </a:solidFill>
            <a:prstDash val="solid"/>
          </a:ln>
        </p:spPr>
      </p:sp>
      <p:sp>
        <p:nvSpPr>
          <p:cNvPr id="7" name="">
            <a:extLst xmlns:a="http://schemas.openxmlformats.org/drawingml/2006/main">
              <a:ext uri="{FF2B5EF4-FFF2-40B4-BE49-F238E27FC236}">
                <a16:creationId xmlns:a16="http://schemas.microsoft.com/office/drawing/2014/main" id="{85A548D1-03BD-4A03-A36C-CA51EB4947AC}"/>
              </a:ext>
            </a:extLst>
          </p:cNvPr>
          <p:cNvSpPr>
            <a:spLocks xmlns:a="http://schemas.openxmlformats.org/drawingml/2006/main" noGrp="1"/>
          </p:cNvSpPr>
          <p:nvPr/>
        </p:nvSpPr>
        <p:spPr>
          <a:xfrm xmlns:a="http://schemas.openxmlformats.org/drawingml/2006/main">
            <a:off x="9258300" y="1657350"/>
            <a:ext cx="2324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C9A86A"/>
                </a:solidFill>
              </a:defRPr>
            </a:pPr>
            <a:r>
              <a:rPr sz="975" b="1">
                <a:solidFill>
                  <a:srgbClr val="C9A86A"/>
                </a:solidFill>
              </a:rPr>
              <a:t>EVERY PUBLISHED TASK PASSES</a:t>
            </a:r>
          </a:p>
        </p:txBody>
      </p:sp>
      <p:sp>
        <p:nvSpPr>
          <p:cNvPr id="8" name="">
            <a:extLst xmlns:a="http://schemas.openxmlformats.org/drawingml/2006/main">
              <a:ext uri="{FF2B5EF4-FFF2-40B4-BE49-F238E27FC236}">
                <a16:creationId xmlns:a16="http://schemas.microsoft.com/office/drawing/2014/main" id="{F47FED20-F700-4DB9-BFEE-775E90813F73}"/>
              </a:ext>
            </a:extLst>
          </p:cNvPr>
          <p:cNvSpPr>
            <a:spLocks xmlns:a="http://schemas.openxmlformats.org/drawingml/2006/main" noGrp="1"/>
          </p:cNvSpPr>
          <p:nvPr/>
        </p:nvSpPr>
        <p:spPr>
          <a:xfrm xmlns:a="http://schemas.openxmlformats.org/drawingml/2006/main">
            <a:off x="9258300" y="2133600"/>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78A984"/>
                </a:solidFill>
              </a:defRPr>
            </a:pPr>
            <a:r>
              <a:rPr sz="1800" b="1">
                <a:solidFill>
                  <a:srgbClr val="78A984"/>
                </a:solidFill>
              </a:rPr>
              <a:t>✓</a:t>
            </a:r>
          </a:p>
        </p:txBody>
      </p:sp>
      <p:sp>
        <p:nvSpPr>
          <p:cNvPr id="9" name="">
            <a:extLst xmlns:a="http://schemas.openxmlformats.org/drawingml/2006/main">
              <a:ext uri="{FF2B5EF4-FFF2-40B4-BE49-F238E27FC236}">
                <a16:creationId xmlns:a16="http://schemas.microsoft.com/office/drawing/2014/main" id="{46075761-AD9C-43A6-B20B-2D4EDB8882D0}"/>
              </a:ext>
            </a:extLst>
          </p:cNvPr>
          <p:cNvSpPr>
            <a:spLocks xmlns:a="http://schemas.openxmlformats.org/drawingml/2006/main" noGrp="1"/>
          </p:cNvSpPr>
          <p:nvPr/>
        </p:nvSpPr>
        <p:spPr>
          <a:xfrm xmlns:a="http://schemas.openxmlformats.org/drawingml/2006/main">
            <a:off x="9620250" y="2133600"/>
            <a:ext cx="19621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4F0E6"/>
                </a:solidFill>
              </a:defRPr>
            </a:pPr>
            <a:r>
              <a:rPr sz="1500" b="1">
                <a:solidFill>
                  <a:srgbClr val="F4F0E6"/>
                </a:solidFill>
              </a:rPr>
              <a:t>No overlap</a:t>
            </a:r>
          </a:p>
        </p:txBody>
      </p:sp>
      <p:sp>
        <p:nvSpPr>
          <p:cNvPr id="10" name="">
            <a:extLst xmlns:a="http://schemas.openxmlformats.org/drawingml/2006/main">
              <a:ext uri="{FF2B5EF4-FFF2-40B4-BE49-F238E27FC236}">
                <a16:creationId xmlns:a16="http://schemas.microsoft.com/office/drawing/2014/main" id="{DBB57257-A3CE-4AE4-8F89-E8D1AF379DF3}"/>
              </a:ext>
            </a:extLst>
          </p:cNvPr>
          <p:cNvSpPr>
            <a:spLocks xmlns:a="http://schemas.openxmlformats.org/drawingml/2006/main" noGrp="1"/>
          </p:cNvSpPr>
          <p:nvPr/>
        </p:nvSpPr>
        <p:spPr>
          <a:xfrm xmlns:a="http://schemas.openxmlformats.org/drawingml/2006/main">
            <a:off x="9620250" y="2428875"/>
            <a:ext cx="196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A7ACA5"/>
                </a:solidFill>
              </a:defRPr>
            </a:pPr>
            <a:r>
              <a:rPr sz="1125" b="0">
                <a:solidFill>
                  <a:srgbClr val="A7ACA5"/>
                </a:solidFill>
              </a:rPr>
              <a:t>Machine and operator intervals cannot collide.</a:t>
            </a:r>
          </a:p>
        </p:txBody>
      </p:sp>
      <p:sp>
        <p:nvSpPr>
          <p:cNvPr id="11" name="">
            <a:extLst xmlns:a="http://schemas.openxmlformats.org/drawingml/2006/main">
              <a:ext uri="{FF2B5EF4-FFF2-40B4-BE49-F238E27FC236}">
                <a16:creationId xmlns:a16="http://schemas.microsoft.com/office/drawing/2014/main" id="{EE56B239-9960-4176-8B40-69E0FE48E7AF}"/>
              </a:ext>
            </a:extLst>
          </p:cNvPr>
          <p:cNvSpPr>
            <a:spLocks xmlns:a="http://schemas.openxmlformats.org/drawingml/2006/main" noGrp="1"/>
          </p:cNvSpPr>
          <p:nvPr/>
        </p:nvSpPr>
        <p:spPr>
          <a:xfrm xmlns:a="http://schemas.openxmlformats.org/drawingml/2006/main">
            <a:off x="9258300" y="3067050"/>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78A984"/>
                </a:solidFill>
              </a:defRPr>
            </a:pPr>
            <a:r>
              <a:rPr sz="1800" b="1">
                <a:solidFill>
                  <a:srgbClr val="78A984"/>
                </a:solidFill>
              </a:rPr>
              <a:t>✓</a:t>
            </a:r>
          </a:p>
        </p:txBody>
      </p:sp>
      <p:sp>
        <p:nvSpPr>
          <p:cNvPr id="12" name="">
            <a:extLst xmlns:a="http://schemas.openxmlformats.org/drawingml/2006/main">
              <a:ext uri="{FF2B5EF4-FFF2-40B4-BE49-F238E27FC236}">
                <a16:creationId xmlns:a16="http://schemas.microsoft.com/office/drawing/2014/main" id="{5D50441D-2F1F-43F3-AAB3-210BC9438583}"/>
              </a:ext>
            </a:extLst>
          </p:cNvPr>
          <p:cNvSpPr>
            <a:spLocks xmlns:a="http://schemas.openxmlformats.org/drawingml/2006/main" noGrp="1"/>
          </p:cNvSpPr>
          <p:nvPr/>
        </p:nvSpPr>
        <p:spPr>
          <a:xfrm xmlns:a="http://schemas.openxmlformats.org/drawingml/2006/main">
            <a:off x="9620250" y="3067050"/>
            <a:ext cx="19621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4F0E6"/>
                </a:solidFill>
              </a:defRPr>
            </a:pPr>
            <a:r>
              <a:rPr sz="1500" b="1">
                <a:solidFill>
                  <a:srgbClr val="F4F0E6"/>
                </a:solidFill>
              </a:rPr>
              <a:t>Precedence</a:t>
            </a:r>
          </a:p>
        </p:txBody>
      </p:sp>
      <p:sp>
        <p:nvSpPr>
          <p:cNvPr id="13" name="">
            <a:extLst xmlns:a="http://schemas.openxmlformats.org/drawingml/2006/main">
              <a:ext uri="{FF2B5EF4-FFF2-40B4-BE49-F238E27FC236}">
                <a16:creationId xmlns:a16="http://schemas.microsoft.com/office/drawing/2014/main" id="{EA4AAB5E-3BB7-4436-8CB4-168BD2131E80}"/>
              </a:ext>
            </a:extLst>
          </p:cNvPr>
          <p:cNvSpPr>
            <a:spLocks xmlns:a="http://schemas.openxmlformats.org/drawingml/2006/main" noGrp="1"/>
          </p:cNvSpPr>
          <p:nvPr/>
        </p:nvSpPr>
        <p:spPr>
          <a:xfrm xmlns:a="http://schemas.openxmlformats.org/drawingml/2006/main">
            <a:off x="9620250" y="3362325"/>
            <a:ext cx="196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A7ACA5"/>
                </a:solidFill>
              </a:defRPr>
            </a:pPr>
            <a:r>
              <a:rPr sz="1125" b="0">
                <a:solidFill>
                  <a:srgbClr val="A7ACA5"/>
                </a:solidFill>
              </a:rPr>
              <a:t>Routing order and material release remain intact.</a:t>
            </a:r>
          </a:p>
        </p:txBody>
      </p:sp>
      <p:sp>
        <p:nvSpPr>
          <p:cNvPr id="14" name="">
            <a:extLst xmlns:a="http://schemas.openxmlformats.org/drawingml/2006/main">
              <a:ext uri="{FF2B5EF4-FFF2-40B4-BE49-F238E27FC236}">
                <a16:creationId xmlns:a16="http://schemas.microsoft.com/office/drawing/2014/main" id="{C88DABD6-CEE7-47B1-BACF-1B327ED13BFC}"/>
              </a:ext>
            </a:extLst>
          </p:cNvPr>
          <p:cNvSpPr>
            <a:spLocks xmlns:a="http://schemas.openxmlformats.org/drawingml/2006/main" noGrp="1"/>
          </p:cNvSpPr>
          <p:nvPr/>
        </p:nvSpPr>
        <p:spPr>
          <a:xfrm xmlns:a="http://schemas.openxmlformats.org/drawingml/2006/main">
            <a:off x="9258300" y="4000500"/>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78A984"/>
                </a:solidFill>
              </a:defRPr>
            </a:pPr>
            <a:r>
              <a:rPr sz="1800" b="1">
                <a:solidFill>
                  <a:srgbClr val="78A984"/>
                </a:solidFill>
              </a:rPr>
              <a:t>✓</a:t>
            </a:r>
          </a:p>
        </p:txBody>
      </p:sp>
      <p:sp>
        <p:nvSpPr>
          <p:cNvPr id="15" name="">
            <a:extLst xmlns:a="http://schemas.openxmlformats.org/drawingml/2006/main">
              <a:ext uri="{FF2B5EF4-FFF2-40B4-BE49-F238E27FC236}">
                <a16:creationId xmlns:a16="http://schemas.microsoft.com/office/drawing/2014/main" id="{DC69F3DC-23C6-4EA6-BE31-556D0DCE0E9D}"/>
              </a:ext>
            </a:extLst>
          </p:cNvPr>
          <p:cNvSpPr>
            <a:spLocks xmlns:a="http://schemas.openxmlformats.org/drawingml/2006/main" noGrp="1"/>
          </p:cNvSpPr>
          <p:nvPr/>
        </p:nvSpPr>
        <p:spPr>
          <a:xfrm xmlns:a="http://schemas.openxmlformats.org/drawingml/2006/main">
            <a:off x="9620250" y="4000500"/>
            <a:ext cx="19621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4F0E6"/>
                </a:solidFill>
              </a:defRPr>
            </a:pPr>
            <a:r>
              <a:rPr sz="1500" b="1">
                <a:solidFill>
                  <a:srgbClr val="F4F0E6"/>
                </a:solidFill>
              </a:rPr>
              <a:t>Eligibility</a:t>
            </a:r>
          </a:p>
        </p:txBody>
      </p:sp>
      <p:sp>
        <p:nvSpPr>
          <p:cNvPr id="16" name="">
            <a:extLst xmlns:a="http://schemas.openxmlformats.org/drawingml/2006/main">
              <a:ext uri="{FF2B5EF4-FFF2-40B4-BE49-F238E27FC236}">
                <a16:creationId xmlns:a16="http://schemas.microsoft.com/office/drawing/2014/main" id="{29E4BDBC-1902-4B9B-B72E-806AF9BA0F3C}"/>
              </a:ext>
            </a:extLst>
          </p:cNvPr>
          <p:cNvSpPr>
            <a:spLocks xmlns:a="http://schemas.openxmlformats.org/drawingml/2006/main" noGrp="1"/>
          </p:cNvSpPr>
          <p:nvPr/>
        </p:nvSpPr>
        <p:spPr>
          <a:xfrm xmlns:a="http://schemas.openxmlformats.org/drawingml/2006/main">
            <a:off x="9620250" y="4295775"/>
            <a:ext cx="196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A7ACA5"/>
                </a:solidFill>
              </a:defRPr>
            </a:pPr>
            <a:r>
              <a:rPr sz="1125" b="0">
                <a:solidFill>
                  <a:srgbClr val="A7ACA5"/>
                </a:solidFill>
              </a:rPr>
              <a:t>Capabilities, skills, shifts and power are enforced.</a:t>
            </a:r>
          </a:p>
        </p:txBody>
      </p:sp>
      <p:sp>
        <p:nvSpPr>
          <p:cNvPr id="17" name="">
            <a:extLst xmlns:a="http://schemas.openxmlformats.org/drawingml/2006/main">
              <a:ext uri="{FF2B5EF4-FFF2-40B4-BE49-F238E27FC236}">
                <a16:creationId xmlns:a16="http://schemas.microsoft.com/office/drawing/2014/main" id="{45EBBE91-7E50-45EE-AFB0-C6F0B76BFC68}"/>
              </a:ext>
            </a:extLst>
          </p:cNvPr>
          <p:cNvSpPr>
            <a:spLocks xmlns:a="http://schemas.openxmlformats.org/drawingml/2006/main" noGrp="1"/>
          </p:cNvSpPr>
          <p:nvPr/>
        </p:nvSpPr>
        <p:spPr>
          <a:xfrm xmlns:a="http://schemas.openxmlformats.org/drawingml/2006/main">
            <a:off x="9258300" y="4933950"/>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78A984"/>
                </a:solidFill>
              </a:defRPr>
            </a:pPr>
            <a:r>
              <a:rPr sz="1800" b="1">
                <a:solidFill>
                  <a:srgbClr val="78A984"/>
                </a:solidFill>
              </a:rPr>
              <a:t>✓</a:t>
            </a:r>
          </a:p>
        </p:txBody>
      </p:sp>
      <p:sp>
        <p:nvSpPr>
          <p:cNvPr id="18" name="">
            <a:extLst xmlns:a="http://schemas.openxmlformats.org/drawingml/2006/main">
              <a:ext uri="{FF2B5EF4-FFF2-40B4-BE49-F238E27FC236}">
                <a16:creationId xmlns:a16="http://schemas.microsoft.com/office/drawing/2014/main" id="{D0D12D22-CDA5-4AD9-A235-F20B821E88EB}"/>
              </a:ext>
            </a:extLst>
          </p:cNvPr>
          <p:cNvSpPr>
            <a:spLocks xmlns:a="http://schemas.openxmlformats.org/drawingml/2006/main" noGrp="1"/>
          </p:cNvSpPr>
          <p:nvPr/>
        </p:nvSpPr>
        <p:spPr>
          <a:xfrm xmlns:a="http://schemas.openxmlformats.org/drawingml/2006/main">
            <a:off x="9620250" y="4933950"/>
            <a:ext cx="19621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4F0E6"/>
                </a:solidFill>
              </a:defRPr>
            </a:pPr>
            <a:r>
              <a:rPr sz="1500" b="1">
                <a:solidFill>
                  <a:srgbClr val="F4F0E6"/>
                </a:solidFill>
              </a:rPr>
              <a:t>Sequence</a:t>
            </a:r>
          </a:p>
        </p:txBody>
      </p:sp>
      <p:sp>
        <p:nvSpPr>
          <p:cNvPr id="19" name="">
            <a:extLst xmlns:a="http://schemas.openxmlformats.org/drawingml/2006/main">
              <a:ext uri="{FF2B5EF4-FFF2-40B4-BE49-F238E27FC236}">
                <a16:creationId xmlns:a16="http://schemas.microsoft.com/office/drawing/2014/main" id="{07EC85B5-D63C-4B10-95D2-851DE7DE50AF}"/>
              </a:ext>
            </a:extLst>
          </p:cNvPr>
          <p:cNvSpPr>
            <a:spLocks xmlns:a="http://schemas.openxmlformats.org/drawingml/2006/main" noGrp="1"/>
          </p:cNvSpPr>
          <p:nvPr/>
        </p:nvSpPr>
        <p:spPr>
          <a:xfrm xmlns:a="http://schemas.openxmlformats.org/drawingml/2006/main">
            <a:off x="9620250" y="5229225"/>
            <a:ext cx="196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A7ACA5"/>
                </a:solidFill>
              </a:defRPr>
            </a:pPr>
            <a:r>
              <a:rPr sz="1125" b="0">
                <a:solidFill>
                  <a:srgbClr val="A7ACA5"/>
                </a:solidFill>
              </a:rPr>
              <a:t>Part-family changeovers consume real capacity.</a:t>
            </a:r>
          </a:p>
        </p:txBody>
      </p:sp>
      <p:sp>
        <p:nvSpPr>
          <p:cNvPr id="20" name="">
            <a:extLst xmlns:a="http://schemas.openxmlformats.org/drawingml/2006/main">
              <a:ext uri="{FF2B5EF4-FFF2-40B4-BE49-F238E27FC236}">
                <a16:creationId xmlns:a16="http://schemas.microsoft.com/office/drawing/2014/main" id="{ECDF9999-ED2A-4FEA-9704-7EC2EB2BD2BA}"/>
              </a:ext>
            </a:extLst>
          </p:cNvPr>
          <p:cNvSpPr>
            <a:spLocks xmlns:a="http://schemas.openxmlformats.org/drawingml/2006/main" noGrp="1"/>
          </p:cNvSpPr>
          <p:nvPr/>
        </p:nvSpPr>
        <p:spPr>
          <a:xfrm xmlns:a="http://schemas.openxmlformats.org/drawingml/2006/main">
            <a:off x="609600" y="65532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6F756F"/>
                </a:solidFill>
              </a:defRPr>
            </a:pPr>
            <a:r>
              <a:rPr sz="825" b="1">
                <a:solidFill>
                  <a:srgbClr val="6F756F"/>
                </a:solidFill>
              </a:rPr>
              <a:t>SMARTFORGE · FINITE-CAPACITY MANUFACTURING DECISIONS</a:t>
            </a:r>
          </a:p>
        </p:txBody>
      </p:sp>
    </p:spTree>
    <p:extLst>
      <p:ext uri="{BB962C8B-B14F-4D97-AF65-F5344CB8AC3E}">
        <p14:creationId xmlns:p14="http://schemas.microsoft.com/office/powerpoint/2010/main" val="2074627276"/>
      </p:ext>
    </p:extLst>
  </p:cSld>
</p:sld>
</file>

<file path=ppt/slides/slide5.xml><?xml version="1.0" encoding="utf-8"?>
<p:sld xmlns:p="http://schemas.openxmlformats.org/presentationml/2006/main">
  <p:cSld>
    <p:bg>
      <p:bgPr>
        <a:solidFill xmlns:a="http://schemas.openxmlformats.org/drawingml/2006/main">
          <a:srgbClr val="0B0E0D"/>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8342080-26AF-4E59-80D3-3028DB2B115E}"/>
              </a:ext>
            </a:extLst>
          </p:cNvPr>
          <p:cNvSpPr>
            <a:spLocks xmlns:a="http://schemas.openxmlformats.org/drawingml/2006/main" noGrp="1"/>
          </p:cNvSpPr>
          <p:nvPr/>
        </p:nvSpPr>
        <p:spPr>
          <a:xfrm xmlns:a="http://schemas.openxmlformats.org/drawingml/2006/main">
            <a:off x="609600" y="323850"/>
            <a:ext cx="447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C9A86A"/>
                </a:solidFill>
              </a:defRPr>
            </a:pPr>
            <a:r>
              <a:rPr sz="1050" b="1">
                <a:solidFill>
                  <a:srgbClr val="C9A86A"/>
                </a:solidFill>
              </a:rPr>
              <a:t>CAPABLE-TO-PROMISE</a:t>
            </a:r>
          </a:p>
        </p:txBody>
      </p:sp>
      <p:sp>
        <p:nvSpPr>
          <p:cNvPr id="2" name="">
            <a:extLst xmlns:a="http://schemas.openxmlformats.org/drawingml/2006/main">
              <a:ext uri="{FF2B5EF4-FFF2-40B4-BE49-F238E27FC236}">
                <a16:creationId xmlns:a16="http://schemas.microsoft.com/office/drawing/2014/main" id="{72A7711B-78D5-4EDB-95F6-FF227758CABB}"/>
              </a:ext>
            </a:extLst>
          </p:cNvPr>
          <p:cNvSpPr>
            <a:spLocks xmlns:a="http://schemas.openxmlformats.org/drawingml/2006/main" noGrp="1"/>
          </p:cNvSpPr>
          <p:nvPr/>
        </p:nvSpPr>
        <p:spPr>
          <a:xfrm xmlns:a="http://schemas.openxmlformats.org/drawingml/2006/main">
            <a:off x="609600" y="647700"/>
            <a:ext cx="10934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F4F0E6"/>
                </a:solidFill>
              </a:defRPr>
            </a:pPr>
            <a:r>
              <a:rPr sz="3000" b="1">
                <a:solidFill>
                  <a:srgbClr val="F4F0E6"/>
                </a:solidFill>
              </a:rPr>
              <a:t>New RFQs are tested against the work already promised</a:t>
            </a:r>
          </a:p>
        </p:txBody>
      </p:sp>
      <p:sp>
        <p:nvSpPr>
          <p:cNvPr id="3" name="">
            <a:extLst xmlns:a="http://schemas.openxmlformats.org/drawingml/2006/main">
              <a:ext uri="{FF2B5EF4-FFF2-40B4-BE49-F238E27FC236}">
                <a16:creationId xmlns:a16="http://schemas.microsoft.com/office/drawing/2014/main" id="{23EAC5F7-B84D-4CA7-9ADA-2EF1200979EC}"/>
              </a:ext>
            </a:extLst>
          </p:cNvPr>
          <p:cNvSpPr>
            <a:spLocks xmlns:a="http://schemas.openxmlformats.org/drawingml/2006/main" noGrp="1"/>
          </p:cNvSpPr>
          <p:nvPr/>
        </p:nvSpPr>
        <p:spPr>
          <a:xfrm xmlns:a="http://schemas.openxmlformats.org/drawingml/2006/main">
            <a:off x="609600" y="1238250"/>
            <a:ext cx="10972800" cy="0"/>
          </a:xfrm>
          <a:prstGeom xmlns:a="http://schemas.openxmlformats.org/drawingml/2006/main" prst="line">
            <a:avLst/>
          </a:prstGeom>
          <a:noFill xmlns:a="http://schemas.openxmlformats.org/drawingml/2006/main"/>
          <a:ln xmlns:a="http://schemas.openxmlformats.org/drawingml/2006/main" w="9525">
            <a:solidFill>
              <a:srgbClr val="303731"/>
            </a:solidFill>
            <a:prstDash val="solid"/>
          </a:ln>
        </p:spPr>
      </p:sp>
      <p:sp>
        <p:nvSpPr>
          <p:cNvPr id="4" name="">
            <a:extLst xmlns:a="http://schemas.openxmlformats.org/drawingml/2006/main">
              <a:ext uri="{FF2B5EF4-FFF2-40B4-BE49-F238E27FC236}">
                <a16:creationId xmlns:a16="http://schemas.microsoft.com/office/drawing/2014/main" id="{59B8F797-A83D-430B-B3FC-B3E0E69BCCB4}"/>
              </a:ext>
            </a:extLst>
          </p:cNvPr>
          <p:cNvSpPr>
            <a:spLocks xmlns:a="http://schemas.openxmlformats.org/drawingml/2006/main" noGrp="1"/>
          </p:cNvSpPr>
          <p:nvPr/>
        </p:nvSpPr>
        <p:spPr>
          <a:xfrm xmlns:a="http://schemas.openxmlformats.org/drawingml/2006/main">
            <a:off x="11106150" y="3238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6F756F"/>
                </a:solidFill>
              </a:defRPr>
            </a:pPr>
            <a:r>
              <a:rPr sz="1050" b="1">
                <a:solidFill>
                  <a:srgbClr val="6F756F"/>
                </a:solidFill>
              </a:rPr>
              <a:t>05</a:t>
            </a:r>
          </a:p>
        </p:txBody>
      </p:sp>
      <p:sp>
        <p:nvSpPr>
          <p:cNvPr id="5" name="">
            <a:extLst xmlns:a="http://schemas.openxmlformats.org/drawingml/2006/main">
              <a:ext uri="{FF2B5EF4-FFF2-40B4-BE49-F238E27FC236}">
                <a16:creationId xmlns:a16="http://schemas.microsoft.com/office/drawing/2014/main" id="{AC11B8CD-96EE-4C65-B6CE-E08553C619EF}"/>
              </a:ext>
            </a:extLst>
          </p:cNvPr>
          <p:cNvSpPr>
            <a:spLocks xmlns:a="http://schemas.openxmlformats.org/drawingml/2006/main" noGrp="1"/>
          </p:cNvSpPr>
          <p:nvPr/>
        </p:nvSpPr>
        <p:spPr>
          <a:xfrm xmlns:a="http://schemas.openxmlformats.org/drawingml/2006/main">
            <a:off x="609600" y="1752600"/>
            <a:ext cx="3905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78A984"/>
                </a:solidFill>
              </a:defRPr>
            </a:pPr>
            <a:r>
              <a:rPr sz="2550" b="1">
                <a:solidFill>
                  <a:srgbClr val="78A984"/>
                </a:solidFill>
              </a:rPr>
              <a:t>ACCEPT WITH</a:t>
            </a:r>
          </a:p>
          <a:p xmlns:a="http://schemas.openxmlformats.org/drawingml/2006/main">
            <a:pPr algn="l">
              <a:defRPr sz="2550" b="1">
                <a:solidFill>
                  <a:srgbClr val="78A984"/>
                </a:solidFill>
              </a:defRPr>
            </a:pPr>
            <a:r>
              <a:rPr sz="2550" b="1">
                <a:solidFill>
                  <a:srgbClr val="78A984"/>
                </a:solidFill>
              </a:rPr>
              <a:t>GENERATOR USAGE</a:t>
            </a:r>
          </a:p>
        </p:txBody>
      </p:sp>
      <p:sp>
        <p:nvSpPr>
          <p:cNvPr id="6" name="">
            <a:extLst xmlns:a="http://schemas.openxmlformats.org/drawingml/2006/main">
              <a:ext uri="{FF2B5EF4-FFF2-40B4-BE49-F238E27FC236}">
                <a16:creationId xmlns:a16="http://schemas.microsoft.com/office/drawing/2014/main" id="{67C4D44C-0A9B-4F27-81A3-787E8DEC8094}"/>
              </a:ext>
            </a:extLst>
          </p:cNvPr>
          <p:cNvSpPr>
            <a:spLocks xmlns:a="http://schemas.openxmlformats.org/drawingml/2006/main" noGrp="1"/>
          </p:cNvSpPr>
          <p:nvPr/>
        </p:nvSpPr>
        <p:spPr>
          <a:xfrm xmlns:a="http://schemas.openxmlformats.org/drawingml/2006/main">
            <a:off x="609600" y="2781300"/>
            <a:ext cx="390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4F0E6"/>
                </a:solidFill>
              </a:defRPr>
            </a:pPr>
            <a:r>
              <a:rPr sz="1350" b="1">
                <a:solidFill>
                  <a:srgbClr val="F4F0E6"/>
                </a:solidFill>
              </a:rPr>
              <a:t>Apex Driveline · Tier 1 · 1,200 pieces</a:t>
            </a:r>
          </a:p>
        </p:txBody>
      </p:sp>
      <p:sp>
        <p:nvSpPr>
          <p:cNvPr id="7" name="">
            <a:extLst xmlns:a="http://schemas.openxmlformats.org/drawingml/2006/main">
              <a:ext uri="{FF2B5EF4-FFF2-40B4-BE49-F238E27FC236}">
                <a16:creationId xmlns:a16="http://schemas.microsoft.com/office/drawing/2014/main" id="{5F8EAE08-0E6A-436D-976E-1ECD4C52BC6E}"/>
              </a:ext>
            </a:extLst>
          </p:cNvPr>
          <p:cNvSpPr>
            <a:spLocks xmlns:a="http://schemas.openxmlformats.org/drawingml/2006/main" noGrp="1"/>
          </p:cNvSpPr>
          <p:nvPr/>
        </p:nvSpPr>
        <p:spPr>
          <a:xfrm xmlns:a="http://schemas.openxmlformats.org/drawingml/2006/main">
            <a:off x="609600" y="3390900"/>
            <a:ext cx="200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E2C48C"/>
                </a:solidFill>
              </a:defRPr>
            </a:pPr>
            <a:r>
              <a:rPr sz="3150" b="1">
                <a:solidFill>
                  <a:srgbClr val="E2C48C"/>
                </a:solidFill>
              </a:rPr>
              <a:t>85%</a:t>
            </a:r>
          </a:p>
        </p:txBody>
      </p:sp>
      <p:sp>
        <p:nvSpPr>
          <p:cNvPr id="8" name="">
            <a:extLst xmlns:a="http://schemas.openxmlformats.org/drawingml/2006/main">
              <a:ext uri="{FF2B5EF4-FFF2-40B4-BE49-F238E27FC236}">
                <a16:creationId xmlns:a16="http://schemas.microsoft.com/office/drawing/2014/main" id="{EF012057-AC95-486E-BA96-9068CA87BED8}"/>
              </a:ext>
            </a:extLst>
          </p:cNvPr>
          <p:cNvSpPr>
            <a:spLocks xmlns:a="http://schemas.openxmlformats.org/drawingml/2006/main" noGrp="1"/>
          </p:cNvSpPr>
          <p:nvPr/>
        </p:nvSpPr>
        <p:spPr>
          <a:xfrm xmlns:a="http://schemas.openxmlformats.org/drawingml/2006/main">
            <a:off x="609600" y="391477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A7ACA5"/>
                </a:solidFill>
              </a:defRPr>
            </a:pPr>
            <a:r>
              <a:rPr sz="975" b="1">
                <a:solidFill>
                  <a:srgbClr val="A7ACA5"/>
                </a:solidFill>
              </a:rPr>
              <a:t>DELIVERY CONFIDENCE</a:t>
            </a:r>
          </a:p>
        </p:txBody>
      </p:sp>
      <p:sp>
        <p:nvSpPr>
          <p:cNvPr id="9" name="">
            <a:extLst xmlns:a="http://schemas.openxmlformats.org/drawingml/2006/main">
              <a:ext uri="{FF2B5EF4-FFF2-40B4-BE49-F238E27FC236}">
                <a16:creationId xmlns:a16="http://schemas.microsoft.com/office/drawing/2014/main" id="{61180A8D-D62E-4F9B-AAE8-3075BCB5FA2A}"/>
              </a:ext>
            </a:extLst>
          </p:cNvPr>
          <p:cNvSpPr>
            <a:spLocks xmlns:a="http://schemas.openxmlformats.org/drawingml/2006/main" noGrp="1"/>
          </p:cNvSpPr>
          <p:nvPr/>
        </p:nvSpPr>
        <p:spPr>
          <a:xfrm xmlns:a="http://schemas.openxmlformats.org/drawingml/2006/main">
            <a:off x="2514600" y="3390900"/>
            <a:ext cx="200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78A984"/>
                </a:solidFill>
              </a:defRPr>
            </a:pPr>
            <a:r>
              <a:rPr sz="3150" b="1">
                <a:solidFill>
                  <a:srgbClr val="78A984"/>
                </a:solidFill>
              </a:rPr>
              <a:t>₹2.17L</a:t>
            </a:r>
          </a:p>
        </p:txBody>
      </p:sp>
      <p:sp>
        <p:nvSpPr>
          <p:cNvPr id="10" name="">
            <a:extLst xmlns:a="http://schemas.openxmlformats.org/drawingml/2006/main">
              <a:ext uri="{FF2B5EF4-FFF2-40B4-BE49-F238E27FC236}">
                <a16:creationId xmlns:a16="http://schemas.microsoft.com/office/drawing/2014/main" id="{BF842BDA-E725-4C62-9D1E-5CC5038DBAB7}"/>
              </a:ext>
            </a:extLst>
          </p:cNvPr>
          <p:cNvSpPr>
            <a:spLocks xmlns:a="http://schemas.openxmlformats.org/drawingml/2006/main" noGrp="1"/>
          </p:cNvSpPr>
          <p:nvPr/>
        </p:nvSpPr>
        <p:spPr>
          <a:xfrm xmlns:a="http://schemas.openxmlformats.org/drawingml/2006/main">
            <a:off x="2514600" y="391477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A7ACA5"/>
                </a:solidFill>
              </a:defRPr>
            </a:pPr>
            <a:r>
              <a:rPr sz="975" b="1">
                <a:solidFill>
                  <a:srgbClr val="A7ACA5"/>
                </a:solidFill>
              </a:rPr>
              <a:t>RISK-ADJUSTED CONTRIBUTION</a:t>
            </a:r>
          </a:p>
        </p:txBody>
      </p:sp>
      <p:sp>
        <p:nvSpPr>
          <p:cNvPr id="11" name="">
            <a:extLst xmlns:a="http://schemas.openxmlformats.org/drawingml/2006/main">
              <a:ext uri="{FF2B5EF4-FFF2-40B4-BE49-F238E27FC236}">
                <a16:creationId xmlns:a16="http://schemas.microsoft.com/office/drawing/2014/main" id="{9B6CA05F-E985-4A4E-BA0C-61307B14CDB6}"/>
              </a:ext>
            </a:extLst>
          </p:cNvPr>
          <p:cNvSpPr>
            <a:spLocks xmlns:a="http://schemas.openxmlformats.org/drawingml/2006/main" noGrp="1"/>
          </p:cNvSpPr>
          <p:nvPr/>
        </p:nvSpPr>
        <p:spPr>
          <a:xfrm xmlns:a="http://schemas.openxmlformats.org/drawingml/2006/main">
            <a:off x="609600" y="4533900"/>
            <a:ext cx="3905250" cy="0"/>
          </a:xfrm>
          <a:prstGeom xmlns:a="http://schemas.openxmlformats.org/drawingml/2006/main" prst="line">
            <a:avLst/>
          </a:prstGeom>
          <a:noFill xmlns:a="http://schemas.openxmlformats.org/drawingml/2006/main"/>
          <a:ln xmlns:a="http://schemas.openxmlformats.org/drawingml/2006/main" w="9525">
            <a:solidFill>
              <a:srgbClr val="303731"/>
            </a:solidFill>
            <a:prstDash val="solid"/>
          </a:ln>
        </p:spPr>
      </p:sp>
      <p:sp>
        <p:nvSpPr>
          <p:cNvPr id="12" name="">
            <a:extLst xmlns:a="http://schemas.openxmlformats.org/drawingml/2006/main">
              <a:ext uri="{FF2B5EF4-FFF2-40B4-BE49-F238E27FC236}">
                <a16:creationId xmlns:a16="http://schemas.microsoft.com/office/drawing/2014/main" id="{F07259C6-90A3-45D5-B59E-486A4BA8BB00}"/>
              </a:ext>
            </a:extLst>
          </p:cNvPr>
          <p:cNvSpPr>
            <a:spLocks xmlns:a="http://schemas.openxmlformats.org/drawingml/2006/main" noGrp="1"/>
          </p:cNvSpPr>
          <p:nvPr/>
        </p:nvSpPr>
        <p:spPr>
          <a:xfrm xmlns:a="http://schemas.openxmlformats.org/drawingml/2006/main">
            <a:off x="609600" y="47625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C9A86A"/>
                </a:solidFill>
              </a:defRPr>
            </a:pPr>
            <a:r>
              <a:rPr sz="1200" b="1">
                <a:solidFill>
                  <a:srgbClr val="C9A86A"/>
                </a:solidFill>
              </a:rPr>
              <a:t>The engine checks</a:t>
            </a:r>
          </a:p>
        </p:txBody>
      </p:sp>
      <p:sp>
        <p:nvSpPr>
          <p:cNvPr id="13" name="">
            <a:extLst xmlns:a="http://schemas.openxmlformats.org/drawingml/2006/main">
              <a:ext uri="{FF2B5EF4-FFF2-40B4-BE49-F238E27FC236}">
                <a16:creationId xmlns:a16="http://schemas.microsoft.com/office/drawing/2014/main" id="{79018C85-9A10-41D7-8C42-3319470CAF09}"/>
              </a:ext>
            </a:extLst>
          </p:cNvPr>
          <p:cNvSpPr>
            <a:spLocks xmlns:a="http://schemas.openxmlformats.org/drawingml/2006/main" noGrp="1"/>
          </p:cNvSpPr>
          <p:nvPr/>
        </p:nvSpPr>
        <p:spPr>
          <a:xfrm xmlns:a="http://schemas.openxmlformats.org/drawingml/2006/main">
            <a:off x="609600" y="5105400"/>
            <a:ext cx="38290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A7ACA5"/>
                </a:solidFill>
              </a:defRPr>
            </a:pPr>
            <a:r>
              <a:rPr sz="1275" b="0">
                <a:solidFill>
                  <a:srgbClr val="A7ACA5"/>
                </a:solidFill>
              </a:rPr>
              <a:t>Machine hours · qualified labour · material timing · power economics · penalty displacement</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1f3ee76a5bfa499d"/>
          <a:srcRect xmlns:a="http://schemas.openxmlformats.org/drawingml/2006/main" l="7813" t="0" r="7813" b="0"/>
          <a:stretch xmlns:a="http://schemas.openxmlformats.org/drawingml/2006/main">
            <a:fillRect l="0" t="0" r="0" b="0"/>
          </a:stretch>
        </p:blipFill>
        <p:spPr>
          <a:xfrm xmlns:a="http://schemas.openxmlformats.org/drawingml/2006/main">
            <a:off x="4838700" y="1562100"/>
            <a:ext cx="6743700" cy="4495800"/>
          </a:xfrm>
          <a:prstGeom xmlns:a="http://schemas.openxmlformats.org/drawingml/2006/main" prst="roundRect">
            <a:avLst>
              <a:gd name="adj" fmla="val 2966"/>
            </a:avLst>
          </a:prstGeom>
        </p:spPr>
      </p:pic>
      <p:sp>
        <p:nvSpPr>
          <p:cNvPr id="15" name="">
            <a:extLst xmlns:a="http://schemas.openxmlformats.org/drawingml/2006/main">
              <a:ext uri="{FF2B5EF4-FFF2-40B4-BE49-F238E27FC236}">
                <a16:creationId xmlns:a16="http://schemas.microsoft.com/office/drawing/2014/main" id="{29A4BEE2-E58B-4D1A-9D20-38DF452D6A99}"/>
              </a:ext>
            </a:extLst>
          </p:cNvPr>
          <p:cNvSpPr>
            <a:spLocks xmlns:a="http://schemas.openxmlformats.org/drawingml/2006/main" noGrp="1"/>
          </p:cNvSpPr>
          <p:nvPr/>
        </p:nvSpPr>
        <p:spPr>
          <a:xfrm xmlns:a="http://schemas.openxmlformats.org/drawingml/2006/main">
            <a:off x="4838700" y="1562100"/>
            <a:ext cx="6743700" cy="4495800"/>
          </a:xfrm>
          <a:prstGeom xmlns:a="http://schemas.openxmlformats.org/drawingml/2006/main" prst="roundRect">
            <a:avLst>
              <a:gd name="adj" fmla="val 2966"/>
            </a:avLst>
          </a:prstGeom>
          <a:noFill xmlns:a="http://schemas.openxmlformats.org/drawingml/2006/main"/>
          <a:ln xmlns:a="http://schemas.openxmlformats.org/drawingml/2006/main" w="9525">
            <a:solidFill>
              <a:srgbClr val="303731"/>
            </a:solidFill>
            <a:prstDash val="solid"/>
          </a:ln>
        </p:spPr>
      </p:sp>
      <p:sp>
        <p:nvSpPr>
          <p:cNvPr id="16" name="">
            <a:extLst xmlns:a="http://schemas.openxmlformats.org/drawingml/2006/main">
              <a:ext uri="{FF2B5EF4-FFF2-40B4-BE49-F238E27FC236}">
                <a16:creationId xmlns:a16="http://schemas.microsoft.com/office/drawing/2014/main" id="{AD11D6EF-6451-43D7-B96B-15A48454A79B}"/>
              </a:ext>
            </a:extLst>
          </p:cNvPr>
          <p:cNvSpPr>
            <a:spLocks xmlns:a="http://schemas.openxmlformats.org/drawingml/2006/main" noGrp="1"/>
          </p:cNvSpPr>
          <p:nvPr/>
        </p:nvSpPr>
        <p:spPr>
          <a:xfrm xmlns:a="http://schemas.openxmlformats.org/drawingml/2006/main">
            <a:off x="609600" y="65532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6F756F"/>
                </a:solidFill>
              </a:defRPr>
            </a:pPr>
            <a:r>
              <a:rPr sz="825" b="1">
                <a:solidFill>
                  <a:srgbClr val="6F756F"/>
                </a:solidFill>
              </a:rPr>
              <a:t>SMARTFORGE · FINITE-CAPACITY MANUFACTURING DECISIONS</a:t>
            </a:r>
          </a:p>
        </p:txBody>
      </p:sp>
    </p:spTree>
    <p:extLst>
      <p:ext uri="{BB962C8B-B14F-4D97-AF65-F5344CB8AC3E}">
        <p14:creationId xmlns:p14="http://schemas.microsoft.com/office/powerpoint/2010/main" val="1802585133"/>
      </p:ext>
    </p:extLst>
  </p:cSld>
</p:sld>
</file>

<file path=ppt/slides/slide6.xml><?xml version="1.0" encoding="utf-8"?>
<p:sld xmlns:p="http://schemas.openxmlformats.org/presentationml/2006/main">
  <p:cSld>
    <p:bg>
      <p:bgPr>
        <a:solidFill xmlns:a="http://schemas.openxmlformats.org/drawingml/2006/main">
          <a:srgbClr val="0B0E0D"/>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63B9358-959F-4766-8A59-4E1B0E69BB84}"/>
              </a:ext>
            </a:extLst>
          </p:cNvPr>
          <p:cNvSpPr>
            <a:spLocks xmlns:a="http://schemas.openxmlformats.org/drawingml/2006/main" noGrp="1"/>
          </p:cNvSpPr>
          <p:nvPr/>
        </p:nvSpPr>
        <p:spPr>
          <a:xfrm xmlns:a="http://schemas.openxmlformats.org/drawingml/2006/main">
            <a:off x="609600" y="323850"/>
            <a:ext cx="447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C9A86A"/>
                </a:solidFill>
              </a:defRPr>
            </a:pPr>
            <a:r>
              <a:rPr sz="1050" b="1">
                <a:solidFill>
                  <a:srgbClr val="C9A86A"/>
                </a:solidFill>
              </a:rPr>
              <a:t>RISK + CAPACITY</a:t>
            </a:r>
          </a:p>
        </p:txBody>
      </p:sp>
      <p:sp>
        <p:nvSpPr>
          <p:cNvPr id="2" name="">
            <a:extLst xmlns:a="http://schemas.openxmlformats.org/drawingml/2006/main">
              <a:ext uri="{FF2B5EF4-FFF2-40B4-BE49-F238E27FC236}">
                <a16:creationId xmlns:a16="http://schemas.microsoft.com/office/drawing/2014/main" id="{B2A84778-B907-46AF-B66B-F44CD7B5CECD}"/>
              </a:ext>
            </a:extLst>
          </p:cNvPr>
          <p:cNvSpPr>
            <a:spLocks xmlns:a="http://schemas.openxmlformats.org/drawingml/2006/main" noGrp="1"/>
          </p:cNvSpPr>
          <p:nvPr/>
        </p:nvSpPr>
        <p:spPr>
          <a:xfrm xmlns:a="http://schemas.openxmlformats.org/drawingml/2006/main">
            <a:off x="609600" y="647700"/>
            <a:ext cx="10934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F4F0E6"/>
                </a:solidFill>
              </a:defRPr>
            </a:pPr>
            <a:r>
              <a:rPr sz="3000" b="1">
                <a:solidFill>
                  <a:srgbClr val="F4F0E6"/>
                </a:solidFill>
              </a:rPr>
              <a:t>Risk becomes actionable when capacity meets ₹ exposure</a:t>
            </a:r>
          </a:p>
        </p:txBody>
      </p:sp>
      <p:sp>
        <p:nvSpPr>
          <p:cNvPr id="3" name="">
            <a:extLst xmlns:a="http://schemas.openxmlformats.org/drawingml/2006/main">
              <a:ext uri="{FF2B5EF4-FFF2-40B4-BE49-F238E27FC236}">
                <a16:creationId xmlns:a16="http://schemas.microsoft.com/office/drawing/2014/main" id="{A25A4A9C-42DA-4B57-B0DF-E657EA69BFC7}"/>
              </a:ext>
            </a:extLst>
          </p:cNvPr>
          <p:cNvSpPr>
            <a:spLocks xmlns:a="http://schemas.openxmlformats.org/drawingml/2006/main" noGrp="1"/>
          </p:cNvSpPr>
          <p:nvPr/>
        </p:nvSpPr>
        <p:spPr>
          <a:xfrm xmlns:a="http://schemas.openxmlformats.org/drawingml/2006/main">
            <a:off x="609600" y="1238250"/>
            <a:ext cx="10972800" cy="0"/>
          </a:xfrm>
          <a:prstGeom xmlns:a="http://schemas.openxmlformats.org/drawingml/2006/main" prst="line">
            <a:avLst/>
          </a:prstGeom>
          <a:noFill xmlns:a="http://schemas.openxmlformats.org/drawingml/2006/main"/>
          <a:ln xmlns:a="http://schemas.openxmlformats.org/drawingml/2006/main" w="9525">
            <a:solidFill>
              <a:srgbClr val="303731"/>
            </a:solidFill>
            <a:prstDash val="solid"/>
          </a:ln>
        </p:spPr>
      </p:sp>
      <p:sp>
        <p:nvSpPr>
          <p:cNvPr id="4" name="">
            <a:extLst xmlns:a="http://schemas.openxmlformats.org/drawingml/2006/main">
              <a:ext uri="{FF2B5EF4-FFF2-40B4-BE49-F238E27FC236}">
                <a16:creationId xmlns:a16="http://schemas.microsoft.com/office/drawing/2014/main" id="{1DCAEDEE-59D1-4EC5-B945-5BC8DE4A1A7C}"/>
              </a:ext>
            </a:extLst>
          </p:cNvPr>
          <p:cNvSpPr>
            <a:spLocks xmlns:a="http://schemas.openxmlformats.org/drawingml/2006/main" noGrp="1"/>
          </p:cNvSpPr>
          <p:nvPr/>
        </p:nvSpPr>
        <p:spPr>
          <a:xfrm xmlns:a="http://schemas.openxmlformats.org/drawingml/2006/main">
            <a:off x="11106150" y="3238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6F756F"/>
                </a:solidFill>
              </a:defRPr>
            </a:pPr>
            <a:r>
              <a:rPr sz="1050" b="1">
                <a:solidFill>
                  <a:srgbClr val="6F756F"/>
                </a:solidFill>
              </a:rPr>
              <a:t>06</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3b5ab6edf58e4a8d"/>
          <a:srcRect xmlns:a="http://schemas.openxmlformats.org/drawingml/2006/main" l="5916" t="0" r="5916" b="0"/>
          <a:stretch xmlns:a="http://schemas.openxmlformats.org/drawingml/2006/main">
            <a:fillRect l="0" t="0" r="0" b="0"/>
          </a:stretch>
        </p:blipFill>
        <p:spPr>
          <a:xfrm xmlns:a="http://schemas.openxmlformats.org/drawingml/2006/main">
            <a:off x="609600" y="1581150"/>
            <a:ext cx="5314950" cy="3390900"/>
          </a:xfrm>
          <a:prstGeom xmlns:a="http://schemas.openxmlformats.org/drawingml/2006/main" prst="roundRect">
            <a:avLst>
              <a:gd name="adj" fmla="val 3933"/>
            </a:avLst>
          </a:prstGeom>
        </p:spPr>
      </p:pic>
      <p:sp>
        <p:nvSpPr>
          <p:cNvPr id="6" name="">
            <a:extLst xmlns:a="http://schemas.openxmlformats.org/drawingml/2006/main">
              <a:ext uri="{FF2B5EF4-FFF2-40B4-BE49-F238E27FC236}">
                <a16:creationId xmlns:a16="http://schemas.microsoft.com/office/drawing/2014/main" id="{16618033-4AFA-4F77-A40F-BF74A79E7460}"/>
              </a:ext>
            </a:extLst>
          </p:cNvPr>
          <p:cNvSpPr>
            <a:spLocks xmlns:a="http://schemas.openxmlformats.org/drawingml/2006/main" noGrp="1"/>
          </p:cNvSpPr>
          <p:nvPr/>
        </p:nvSpPr>
        <p:spPr>
          <a:xfrm xmlns:a="http://schemas.openxmlformats.org/drawingml/2006/main">
            <a:off x="609600" y="1581150"/>
            <a:ext cx="5314950" cy="3390900"/>
          </a:xfrm>
          <a:prstGeom xmlns:a="http://schemas.openxmlformats.org/drawingml/2006/main" prst="roundRect">
            <a:avLst>
              <a:gd name="adj" fmla="val 3933"/>
            </a:avLst>
          </a:prstGeom>
          <a:noFill xmlns:a="http://schemas.openxmlformats.org/drawingml/2006/main"/>
          <a:ln xmlns:a="http://schemas.openxmlformats.org/drawingml/2006/main" w="9525">
            <a:solidFill>
              <a:srgbClr val="303731"/>
            </a:solidFill>
            <a:prstDash val="solid"/>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7ad648a195264349"/>
          <a:srcRect xmlns:a="http://schemas.openxmlformats.org/drawingml/2006/main" l="5916" t="0" r="5916" b="0"/>
          <a:stretch xmlns:a="http://schemas.openxmlformats.org/drawingml/2006/main">
            <a:fillRect l="0" t="0" r="0" b="0"/>
          </a:stretch>
        </p:blipFill>
        <p:spPr>
          <a:xfrm xmlns:a="http://schemas.openxmlformats.org/drawingml/2006/main">
            <a:off x="6267450" y="1581150"/>
            <a:ext cx="5314950" cy="3390900"/>
          </a:xfrm>
          <a:prstGeom xmlns:a="http://schemas.openxmlformats.org/drawingml/2006/main" prst="roundRect">
            <a:avLst>
              <a:gd name="adj" fmla="val 3933"/>
            </a:avLst>
          </a:prstGeom>
        </p:spPr>
      </p:pic>
      <p:sp>
        <p:nvSpPr>
          <p:cNvPr id="8" name="">
            <a:extLst xmlns:a="http://schemas.openxmlformats.org/drawingml/2006/main">
              <a:ext uri="{FF2B5EF4-FFF2-40B4-BE49-F238E27FC236}">
                <a16:creationId xmlns:a16="http://schemas.microsoft.com/office/drawing/2014/main" id="{EC172BA9-7590-419B-AAFB-4D3BEFDDA781}"/>
              </a:ext>
            </a:extLst>
          </p:cNvPr>
          <p:cNvSpPr>
            <a:spLocks xmlns:a="http://schemas.openxmlformats.org/drawingml/2006/main" noGrp="1"/>
          </p:cNvSpPr>
          <p:nvPr/>
        </p:nvSpPr>
        <p:spPr>
          <a:xfrm xmlns:a="http://schemas.openxmlformats.org/drawingml/2006/main">
            <a:off x="6267450" y="1581150"/>
            <a:ext cx="5314950" cy="3390900"/>
          </a:xfrm>
          <a:prstGeom xmlns:a="http://schemas.openxmlformats.org/drawingml/2006/main" prst="roundRect">
            <a:avLst>
              <a:gd name="adj" fmla="val 3933"/>
            </a:avLst>
          </a:prstGeom>
          <a:noFill xmlns:a="http://schemas.openxmlformats.org/drawingml/2006/main"/>
          <a:ln xmlns:a="http://schemas.openxmlformats.org/drawingml/2006/main" w="9525">
            <a:solidFill>
              <a:srgbClr val="303731"/>
            </a:solidFill>
            <a:prstDash val="solid"/>
          </a:ln>
        </p:spPr>
      </p:sp>
      <p:sp>
        <p:nvSpPr>
          <p:cNvPr id="9" name="">
            <a:extLst xmlns:a="http://schemas.openxmlformats.org/drawingml/2006/main">
              <a:ext uri="{FF2B5EF4-FFF2-40B4-BE49-F238E27FC236}">
                <a16:creationId xmlns:a16="http://schemas.microsoft.com/office/drawing/2014/main" id="{62BCFC8F-D9FC-46C4-84FC-0D71E002C82C}"/>
              </a:ext>
            </a:extLst>
          </p:cNvPr>
          <p:cNvSpPr>
            <a:spLocks xmlns:a="http://schemas.openxmlformats.org/drawingml/2006/main" noGrp="1"/>
          </p:cNvSpPr>
          <p:nvPr/>
        </p:nvSpPr>
        <p:spPr>
          <a:xfrm xmlns:a="http://schemas.openxmlformats.org/drawingml/2006/main">
            <a:off x="609600" y="51816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4F0E6"/>
                </a:solidFill>
              </a:defRPr>
            </a:pPr>
            <a:r>
              <a:rPr sz="1575" b="1">
                <a:solidFill>
                  <a:srgbClr val="F4F0E6"/>
                </a:solidFill>
              </a:rPr>
              <a:t>Expected-loss view</a:t>
            </a:r>
          </a:p>
        </p:txBody>
      </p:sp>
      <p:sp>
        <p:nvSpPr>
          <p:cNvPr id="10" name="">
            <a:extLst xmlns:a="http://schemas.openxmlformats.org/drawingml/2006/main">
              <a:ext uri="{FF2B5EF4-FFF2-40B4-BE49-F238E27FC236}">
                <a16:creationId xmlns:a16="http://schemas.microsoft.com/office/drawing/2014/main" id="{778B1A2C-31E6-4C45-9F6C-DA2A9C2C58FF}"/>
              </a:ext>
            </a:extLst>
          </p:cNvPr>
          <p:cNvSpPr>
            <a:spLocks xmlns:a="http://schemas.openxmlformats.org/drawingml/2006/main" noGrp="1"/>
          </p:cNvSpPr>
          <p:nvPr/>
        </p:nvSpPr>
        <p:spPr>
          <a:xfrm xmlns:a="http://schemas.openxmlformats.org/drawingml/2006/main">
            <a:off x="609600" y="5524500"/>
            <a:ext cx="4991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A7ACA5"/>
                </a:solidFill>
              </a:defRPr>
            </a:pPr>
            <a:r>
              <a:rPr sz="1275" b="0">
                <a:solidFill>
                  <a:srgbClr val="A7ACA5"/>
                </a:solidFill>
              </a:rPr>
              <a:t>Probability × impact identifies the risks worth acting on before they become penalties.</a:t>
            </a:r>
          </a:p>
        </p:txBody>
      </p:sp>
      <p:sp>
        <p:nvSpPr>
          <p:cNvPr id="11" name="">
            <a:extLst xmlns:a="http://schemas.openxmlformats.org/drawingml/2006/main">
              <a:ext uri="{FF2B5EF4-FFF2-40B4-BE49-F238E27FC236}">
                <a16:creationId xmlns:a16="http://schemas.microsoft.com/office/drawing/2014/main" id="{F0639FAC-0F2C-4A27-9AC9-F31F7AC6A170}"/>
              </a:ext>
            </a:extLst>
          </p:cNvPr>
          <p:cNvSpPr>
            <a:spLocks xmlns:a="http://schemas.openxmlformats.org/drawingml/2006/main" noGrp="1"/>
          </p:cNvSpPr>
          <p:nvPr/>
        </p:nvSpPr>
        <p:spPr>
          <a:xfrm xmlns:a="http://schemas.openxmlformats.org/drawingml/2006/main">
            <a:off x="6267450" y="51816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4F0E6"/>
                </a:solidFill>
              </a:defRPr>
            </a:pPr>
            <a:r>
              <a:rPr sz="1575" b="1">
                <a:solidFill>
                  <a:srgbClr val="F4F0E6"/>
                </a:solidFill>
              </a:rPr>
              <a:t>Constraint view</a:t>
            </a:r>
          </a:p>
        </p:txBody>
      </p:sp>
      <p:sp>
        <p:nvSpPr>
          <p:cNvPr id="12" name="">
            <a:extLst xmlns:a="http://schemas.openxmlformats.org/drawingml/2006/main">
              <a:ext uri="{FF2B5EF4-FFF2-40B4-BE49-F238E27FC236}">
                <a16:creationId xmlns:a16="http://schemas.microsoft.com/office/drawing/2014/main" id="{B7864F64-3A08-4880-8E97-C78C057054AB}"/>
              </a:ext>
            </a:extLst>
          </p:cNvPr>
          <p:cNvSpPr>
            <a:spLocks xmlns:a="http://schemas.openxmlformats.org/drawingml/2006/main" noGrp="1"/>
          </p:cNvSpPr>
          <p:nvPr/>
        </p:nvSpPr>
        <p:spPr>
          <a:xfrm xmlns:a="http://schemas.openxmlformats.org/drawingml/2006/main">
            <a:off x="6267450" y="5524500"/>
            <a:ext cx="4991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A7ACA5"/>
                </a:solidFill>
              </a:defRPr>
            </a:pPr>
            <a:r>
              <a:rPr sz="1275" b="0">
                <a:solidFill>
                  <a:srgbClr val="A7ACA5"/>
                </a:solidFill>
              </a:rPr>
              <a:t>Machine hours and skill-constrained hours reveal whether equipment capacity is truly usable.</a:t>
            </a:r>
          </a:p>
        </p:txBody>
      </p:sp>
      <p:sp>
        <p:nvSpPr>
          <p:cNvPr id="13" name="">
            <a:extLst xmlns:a="http://schemas.openxmlformats.org/drawingml/2006/main">
              <a:ext uri="{FF2B5EF4-FFF2-40B4-BE49-F238E27FC236}">
                <a16:creationId xmlns:a16="http://schemas.microsoft.com/office/drawing/2014/main" id="{604E3909-30BD-49D4-8A94-AC1A2D6DB283}"/>
              </a:ext>
            </a:extLst>
          </p:cNvPr>
          <p:cNvSpPr>
            <a:spLocks xmlns:a="http://schemas.openxmlformats.org/drawingml/2006/main" noGrp="1"/>
          </p:cNvSpPr>
          <p:nvPr/>
        </p:nvSpPr>
        <p:spPr>
          <a:xfrm xmlns:a="http://schemas.openxmlformats.org/drawingml/2006/main">
            <a:off x="609600" y="65532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6F756F"/>
                </a:solidFill>
              </a:defRPr>
            </a:pPr>
            <a:r>
              <a:rPr sz="825" b="1">
                <a:solidFill>
                  <a:srgbClr val="6F756F"/>
                </a:solidFill>
              </a:rPr>
              <a:t>SMARTFORGE · FINITE-CAPACITY MANUFACTURING DECISIONS</a:t>
            </a:r>
          </a:p>
        </p:txBody>
      </p:sp>
    </p:spTree>
    <p:extLst>
      <p:ext uri="{BB962C8B-B14F-4D97-AF65-F5344CB8AC3E}">
        <p14:creationId xmlns:p14="http://schemas.microsoft.com/office/powerpoint/2010/main" val="1336564158"/>
      </p:ext>
    </p:extLst>
  </p:cSld>
</p:sld>
</file>

<file path=ppt/slides/slide7.xml><?xml version="1.0" encoding="utf-8"?>
<p:sld xmlns:p="http://schemas.openxmlformats.org/presentationml/2006/main">
  <p:cSld>
    <p:bg>
      <p:bgPr>
        <a:solidFill xmlns:a="http://schemas.openxmlformats.org/drawingml/2006/main">
          <a:srgbClr val="0B0E0D"/>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A4387A7-3046-4DAB-A7FD-FF012373A87B}"/>
              </a:ext>
            </a:extLst>
          </p:cNvPr>
          <p:cNvSpPr>
            <a:spLocks xmlns:a="http://schemas.openxmlformats.org/drawingml/2006/main" noGrp="1"/>
          </p:cNvSpPr>
          <p:nvPr/>
        </p:nvSpPr>
        <p:spPr>
          <a:xfrm xmlns:a="http://schemas.openxmlformats.org/drawingml/2006/main">
            <a:off x="609600" y="323850"/>
            <a:ext cx="447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C9A86A"/>
                </a:solidFill>
              </a:defRPr>
            </a:pPr>
            <a:r>
              <a:rPr sz="1050" b="1">
                <a:solidFill>
                  <a:srgbClr val="C9A86A"/>
                </a:solidFill>
              </a:rPr>
              <a:t>DYNAMIC RECOVERY</a:t>
            </a:r>
          </a:p>
        </p:txBody>
      </p:sp>
      <p:sp>
        <p:nvSpPr>
          <p:cNvPr id="2" name="">
            <a:extLst xmlns:a="http://schemas.openxmlformats.org/drawingml/2006/main">
              <a:ext uri="{FF2B5EF4-FFF2-40B4-BE49-F238E27FC236}">
                <a16:creationId xmlns:a16="http://schemas.microsoft.com/office/drawing/2014/main" id="{7F8ADFC1-7588-49E5-BC30-C4113A32B558}"/>
              </a:ext>
            </a:extLst>
          </p:cNvPr>
          <p:cNvSpPr>
            <a:spLocks xmlns:a="http://schemas.openxmlformats.org/drawingml/2006/main" noGrp="1"/>
          </p:cNvSpPr>
          <p:nvPr/>
        </p:nvSpPr>
        <p:spPr>
          <a:xfrm xmlns:a="http://schemas.openxmlformats.org/drawingml/2006/main">
            <a:off x="609600" y="647700"/>
            <a:ext cx="10934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F4F0E6"/>
                </a:solidFill>
              </a:defRPr>
            </a:pPr>
            <a:r>
              <a:rPr sz="3000" b="1">
                <a:solidFill>
                  <a:srgbClr val="F4F0E6"/>
                </a:solidFill>
              </a:rPr>
              <a:t>Recovery preserves history and prices every move</a:t>
            </a:r>
          </a:p>
        </p:txBody>
      </p:sp>
      <p:sp>
        <p:nvSpPr>
          <p:cNvPr id="3" name="">
            <a:extLst xmlns:a="http://schemas.openxmlformats.org/drawingml/2006/main">
              <a:ext uri="{FF2B5EF4-FFF2-40B4-BE49-F238E27FC236}">
                <a16:creationId xmlns:a16="http://schemas.microsoft.com/office/drawing/2014/main" id="{E8CD4A9F-860A-4FD9-93FF-550093B60921}"/>
              </a:ext>
            </a:extLst>
          </p:cNvPr>
          <p:cNvSpPr>
            <a:spLocks xmlns:a="http://schemas.openxmlformats.org/drawingml/2006/main" noGrp="1"/>
          </p:cNvSpPr>
          <p:nvPr/>
        </p:nvSpPr>
        <p:spPr>
          <a:xfrm xmlns:a="http://schemas.openxmlformats.org/drawingml/2006/main">
            <a:off x="609600" y="1238250"/>
            <a:ext cx="10972800" cy="0"/>
          </a:xfrm>
          <a:prstGeom xmlns:a="http://schemas.openxmlformats.org/drawingml/2006/main" prst="line">
            <a:avLst/>
          </a:prstGeom>
          <a:noFill xmlns:a="http://schemas.openxmlformats.org/drawingml/2006/main"/>
          <a:ln xmlns:a="http://schemas.openxmlformats.org/drawingml/2006/main" w="9525">
            <a:solidFill>
              <a:srgbClr val="303731"/>
            </a:solidFill>
            <a:prstDash val="solid"/>
          </a:ln>
        </p:spPr>
      </p:sp>
      <p:sp>
        <p:nvSpPr>
          <p:cNvPr id="4" name="">
            <a:extLst xmlns:a="http://schemas.openxmlformats.org/drawingml/2006/main">
              <a:ext uri="{FF2B5EF4-FFF2-40B4-BE49-F238E27FC236}">
                <a16:creationId xmlns:a16="http://schemas.microsoft.com/office/drawing/2014/main" id="{CE26A1A6-097B-43F5-BB05-D6DDDA20676A}"/>
              </a:ext>
            </a:extLst>
          </p:cNvPr>
          <p:cNvSpPr>
            <a:spLocks xmlns:a="http://schemas.openxmlformats.org/drawingml/2006/main" noGrp="1"/>
          </p:cNvSpPr>
          <p:nvPr/>
        </p:nvSpPr>
        <p:spPr>
          <a:xfrm xmlns:a="http://schemas.openxmlformats.org/drawingml/2006/main">
            <a:off x="11106150" y="3238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6F756F"/>
                </a:solidFill>
              </a:defRPr>
            </a:pPr>
            <a:r>
              <a:rPr sz="1050" b="1">
                <a:solidFill>
                  <a:srgbClr val="6F756F"/>
                </a:solidFill>
              </a:rPr>
              <a:t>07</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4462b20592504a66"/>
          <a:srcRect xmlns:a="http://schemas.openxmlformats.org/drawingml/2006/main" l="5804" t="0" r="5804" b="0"/>
          <a:stretch xmlns:a="http://schemas.openxmlformats.org/drawingml/2006/main">
            <a:fillRect l="0" t="0" r="0" b="0"/>
          </a:stretch>
        </p:blipFill>
        <p:spPr>
          <a:xfrm xmlns:a="http://schemas.openxmlformats.org/drawingml/2006/main">
            <a:off x="609600" y="1504950"/>
            <a:ext cx="7334250" cy="4667250"/>
          </a:xfrm>
          <a:prstGeom xmlns:a="http://schemas.openxmlformats.org/drawingml/2006/main" prst="roundRect">
            <a:avLst>
              <a:gd name="adj" fmla="val 2857"/>
            </a:avLst>
          </a:prstGeom>
        </p:spPr>
      </p:pic>
      <p:sp>
        <p:nvSpPr>
          <p:cNvPr id="6" name="">
            <a:extLst xmlns:a="http://schemas.openxmlformats.org/drawingml/2006/main">
              <a:ext uri="{FF2B5EF4-FFF2-40B4-BE49-F238E27FC236}">
                <a16:creationId xmlns:a16="http://schemas.microsoft.com/office/drawing/2014/main" id="{B26BC0EC-FE50-4906-BED6-7DDA4498F475}"/>
              </a:ext>
            </a:extLst>
          </p:cNvPr>
          <p:cNvSpPr>
            <a:spLocks xmlns:a="http://schemas.openxmlformats.org/drawingml/2006/main" noGrp="1"/>
          </p:cNvSpPr>
          <p:nvPr/>
        </p:nvSpPr>
        <p:spPr>
          <a:xfrm xmlns:a="http://schemas.openxmlformats.org/drawingml/2006/main">
            <a:off x="609600" y="1504950"/>
            <a:ext cx="7334250" cy="4667250"/>
          </a:xfrm>
          <a:prstGeom xmlns:a="http://schemas.openxmlformats.org/drawingml/2006/main" prst="roundRect">
            <a:avLst>
              <a:gd name="adj" fmla="val 2857"/>
            </a:avLst>
          </a:prstGeom>
          <a:noFill xmlns:a="http://schemas.openxmlformats.org/drawingml/2006/main"/>
          <a:ln xmlns:a="http://schemas.openxmlformats.org/drawingml/2006/main" w="9525">
            <a:solidFill>
              <a:srgbClr val="303731"/>
            </a:solidFill>
            <a:prstDash val="solid"/>
          </a:ln>
        </p:spPr>
      </p:sp>
      <p:sp>
        <p:nvSpPr>
          <p:cNvPr id="7" name="">
            <a:extLst xmlns:a="http://schemas.openxmlformats.org/drawingml/2006/main">
              <a:ext uri="{FF2B5EF4-FFF2-40B4-BE49-F238E27FC236}">
                <a16:creationId xmlns:a16="http://schemas.microsoft.com/office/drawing/2014/main" id="{0236D47A-1628-431D-BC5B-1F72AED805E4}"/>
              </a:ext>
            </a:extLst>
          </p:cNvPr>
          <p:cNvSpPr>
            <a:spLocks xmlns:a="http://schemas.openxmlformats.org/drawingml/2006/main" noGrp="1"/>
          </p:cNvSpPr>
          <p:nvPr/>
        </p:nvSpPr>
        <p:spPr>
          <a:xfrm xmlns:a="http://schemas.openxmlformats.org/drawingml/2006/main">
            <a:off x="8343900" y="1657350"/>
            <a:ext cx="200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4F0E6"/>
                </a:solidFill>
              </a:defRPr>
            </a:pPr>
            <a:r>
              <a:rPr sz="3150" b="1">
                <a:solidFill>
                  <a:srgbClr val="F4F0E6"/>
                </a:solidFill>
              </a:rPr>
              <a:t>7</a:t>
            </a:r>
          </a:p>
        </p:txBody>
      </p:sp>
      <p:sp>
        <p:nvSpPr>
          <p:cNvPr id="8" name="">
            <a:extLst xmlns:a="http://schemas.openxmlformats.org/drawingml/2006/main">
              <a:ext uri="{FF2B5EF4-FFF2-40B4-BE49-F238E27FC236}">
                <a16:creationId xmlns:a16="http://schemas.microsoft.com/office/drawing/2014/main" id="{17C54A32-E2BB-4A03-96AF-3A30E18156DF}"/>
              </a:ext>
            </a:extLst>
          </p:cNvPr>
          <p:cNvSpPr>
            <a:spLocks xmlns:a="http://schemas.openxmlformats.org/drawingml/2006/main" noGrp="1"/>
          </p:cNvSpPr>
          <p:nvPr/>
        </p:nvSpPr>
        <p:spPr>
          <a:xfrm xmlns:a="http://schemas.openxmlformats.org/drawingml/2006/main">
            <a:off x="8343900" y="218122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A7ACA5"/>
                </a:solidFill>
              </a:defRPr>
            </a:pPr>
            <a:r>
              <a:rPr sz="975" b="1">
                <a:solidFill>
                  <a:srgbClr val="A7ACA5"/>
                </a:solidFill>
              </a:rPr>
              <a:t>JOBS MOVED</a:t>
            </a:r>
          </a:p>
        </p:txBody>
      </p:sp>
      <p:sp>
        <p:nvSpPr>
          <p:cNvPr id="9" name="">
            <a:extLst xmlns:a="http://schemas.openxmlformats.org/drawingml/2006/main">
              <a:ext uri="{FF2B5EF4-FFF2-40B4-BE49-F238E27FC236}">
                <a16:creationId xmlns:a16="http://schemas.microsoft.com/office/drawing/2014/main" id="{1340312E-6EE8-4673-82A5-6B4B9F4F4A5F}"/>
              </a:ext>
            </a:extLst>
          </p:cNvPr>
          <p:cNvSpPr>
            <a:spLocks xmlns:a="http://schemas.openxmlformats.org/drawingml/2006/main" noGrp="1"/>
          </p:cNvSpPr>
          <p:nvPr/>
        </p:nvSpPr>
        <p:spPr>
          <a:xfrm xmlns:a="http://schemas.openxmlformats.org/drawingml/2006/main">
            <a:off x="8343900" y="2686050"/>
            <a:ext cx="200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E2C48C"/>
                </a:solidFill>
              </a:defRPr>
            </a:pPr>
            <a:r>
              <a:rPr sz="3150" b="1">
                <a:solidFill>
                  <a:srgbClr val="E2C48C"/>
                </a:solidFill>
              </a:rPr>
              <a:t>+5h</a:t>
            </a:r>
          </a:p>
        </p:txBody>
      </p:sp>
      <p:sp>
        <p:nvSpPr>
          <p:cNvPr id="10" name="">
            <a:extLst xmlns:a="http://schemas.openxmlformats.org/drawingml/2006/main">
              <a:ext uri="{FF2B5EF4-FFF2-40B4-BE49-F238E27FC236}">
                <a16:creationId xmlns:a16="http://schemas.microsoft.com/office/drawing/2014/main" id="{20D7B538-E934-48FB-8018-174B74BD4BFC}"/>
              </a:ext>
            </a:extLst>
          </p:cNvPr>
          <p:cNvSpPr>
            <a:spLocks xmlns:a="http://schemas.openxmlformats.org/drawingml/2006/main" noGrp="1"/>
          </p:cNvSpPr>
          <p:nvPr/>
        </p:nvSpPr>
        <p:spPr>
          <a:xfrm xmlns:a="http://schemas.openxmlformats.org/drawingml/2006/main">
            <a:off x="8343900" y="320992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A7ACA5"/>
                </a:solidFill>
              </a:defRPr>
            </a:pPr>
            <a:r>
              <a:rPr sz="975" b="1">
                <a:solidFill>
                  <a:srgbClr val="A7ACA5"/>
                </a:solidFill>
              </a:rPr>
              <a:t>NEW OVERTIME</a:t>
            </a:r>
          </a:p>
        </p:txBody>
      </p:sp>
      <p:sp>
        <p:nvSpPr>
          <p:cNvPr id="11" name="">
            <a:extLst xmlns:a="http://schemas.openxmlformats.org/drawingml/2006/main">
              <a:ext uri="{FF2B5EF4-FFF2-40B4-BE49-F238E27FC236}">
                <a16:creationId xmlns:a16="http://schemas.microsoft.com/office/drawing/2014/main" id="{6FC248B9-9BA9-4021-9C1D-5A61F8EC9736}"/>
              </a:ext>
            </a:extLst>
          </p:cNvPr>
          <p:cNvSpPr>
            <a:spLocks xmlns:a="http://schemas.openxmlformats.org/drawingml/2006/main" noGrp="1"/>
          </p:cNvSpPr>
          <p:nvPr/>
        </p:nvSpPr>
        <p:spPr>
          <a:xfrm xmlns:a="http://schemas.openxmlformats.org/drawingml/2006/main">
            <a:off x="8343900" y="3714750"/>
            <a:ext cx="200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C66D61"/>
                </a:solidFill>
              </a:defRPr>
            </a:pPr>
            <a:r>
              <a:rPr sz="3150" b="1">
                <a:solidFill>
                  <a:srgbClr val="C66D61"/>
                </a:solidFill>
              </a:rPr>
              <a:t>₹75K</a:t>
            </a:r>
          </a:p>
        </p:txBody>
      </p:sp>
      <p:sp>
        <p:nvSpPr>
          <p:cNvPr id="12" name="">
            <a:extLst xmlns:a="http://schemas.openxmlformats.org/drawingml/2006/main">
              <a:ext uri="{FF2B5EF4-FFF2-40B4-BE49-F238E27FC236}">
                <a16:creationId xmlns:a16="http://schemas.microsoft.com/office/drawing/2014/main" id="{E6CDDB7B-D4D5-4D94-9141-215E1CCC75A9}"/>
              </a:ext>
            </a:extLst>
          </p:cNvPr>
          <p:cNvSpPr>
            <a:spLocks xmlns:a="http://schemas.openxmlformats.org/drawingml/2006/main" noGrp="1"/>
          </p:cNvSpPr>
          <p:nvPr/>
        </p:nvSpPr>
        <p:spPr>
          <a:xfrm xmlns:a="http://schemas.openxmlformats.org/drawingml/2006/main">
            <a:off x="8343900" y="423862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A7ACA5"/>
                </a:solidFill>
              </a:defRPr>
            </a:pPr>
            <a:r>
              <a:rPr sz="975" b="1">
                <a:solidFill>
                  <a:srgbClr val="A7ACA5"/>
                </a:solidFill>
              </a:rPr>
              <a:t>PENALTY INCREASE</a:t>
            </a:r>
          </a:p>
        </p:txBody>
      </p:sp>
      <p:sp>
        <p:nvSpPr>
          <p:cNvPr id="13" name="">
            <a:extLst xmlns:a="http://schemas.openxmlformats.org/drawingml/2006/main">
              <a:ext uri="{FF2B5EF4-FFF2-40B4-BE49-F238E27FC236}">
                <a16:creationId xmlns:a16="http://schemas.microsoft.com/office/drawing/2014/main" id="{E9C201A5-424C-4BD6-A175-5678A21362D0}"/>
              </a:ext>
            </a:extLst>
          </p:cNvPr>
          <p:cNvSpPr>
            <a:spLocks xmlns:a="http://schemas.openxmlformats.org/drawingml/2006/main" noGrp="1"/>
          </p:cNvSpPr>
          <p:nvPr/>
        </p:nvSpPr>
        <p:spPr>
          <a:xfrm xmlns:a="http://schemas.openxmlformats.org/drawingml/2006/main">
            <a:off x="8343900" y="4876800"/>
            <a:ext cx="2457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C9A86A"/>
                </a:solidFill>
              </a:defRPr>
            </a:pPr>
            <a:r>
              <a:rPr sz="975" b="1">
                <a:solidFill>
                  <a:srgbClr val="C9A86A"/>
                </a:solidFill>
              </a:rPr>
              <a:t>OWNER'S NEXT CALL</a:t>
            </a:r>
          </a:p>
        </p:txBody>
      </p:sp>
      <p:sp>
        <p:nvSpPr>
          <p:cNvPr id="14" name="">
            <a:extLst xmlns:a="http://schemas.openxmlformats.org/drawingml/2006/main">
              <a:ext uri="{FF2B5EF4-FFF2-40B4-BE49-F238E27FC236}">
                <a16:creationId xmlns:a16="http://schemas.microsoft.com/office/drawing/2014/main" id="{0BEAA908-6949-4E34-A8FB-397F32FDF823}"/>
              </a:ext>
            </a:extLst>
          </p:cNvPr>
          <p:cNvSpPr>
            <a:spLocks xmlns:a="http://schemas.openxmlformats.org/drawingml/2006/main" noGrp="1"/>
          </p:cNvSpPr>
          <p:nvPr/>
        </p:nvSpPr>
        <p:spPr>
          <a:xfrm xmlns:a="http://schemas.openxmlformats.org/drawingml/2006/main">
            <a:off x="8343900" y="51816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4F0E6"/>
                </a:solidFill>
              </a:defRPr>
            </a:pPr>
            <a:r>
              <a:rPr sz="1650" b="1">
                <a:solidFill>
                  <a:srgbClr val="F4F0E6"/>
                </a:solidFill>
              </a:rPr>
              <a:t>Ravi Grinding Services</a:t>
            </a:r>
          </a:p>
        </p:txBody>
      </p:sp>
      <p:sp>
        <p:nvSpPr>
          <p:cNvPr id="15" name="">
            <a:extLst xmlns:a="http://schemas.openxmlformats.org/drawingml/2006/main">
              <a:ext uri="{FF2B5EF4-FFF2-40B4-BE49-F238E27FC236}">
                <a16:creationId xmlns:a16="http://schemas.microsoft.com/office/drawing/2014/main" id="{EDB22168-CADC-4444-9141-2956D1AB5843}"/>
              </a:ext>
            </a:extLst>
          </p:cNvPr>
          <p:cNvSpPr>
            <a:spLocks xmlns:a="http://schemas.openxmlformats.org/drawingml/2006/main" noGrp="1"/>
          </p:cNvSpPr>
          <p:nvPr/>
        </p:nvSpPr>
        <p:spPr>
          <a:xfrm xmlns:a="http://schemas.openxmlformats.org/drawingml/2006/main">
            <a:off x="8343900" y="5543550"/>
            <a:ext cx="285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A7ACA5"/>
                </a:solidFill>
              </a:defRPr>
            </a:pPr>
            <a:r>
              <a:rPr sz="1200" b="0">
                <a:solidFill>
                  <a:srgbClr val="A7ACA5"/>
                </a:solidFill>
              </a:rPr>
              <a:t>Reserve an outsourced grinding slot to protect the Tier-1 commitment.</a:t>
            </a:r>
          </a:p>
        </p:txBody>
      </p:sp>
      <p:sp>
        <p:nvSpPr>
          <p:cNvPr id="16" name="">
            <a:extLst xmlns:a="http://schemas.openxmlformats.org/drawingml/2006/main">
              <a:ext uri="{FF2B5EF4-FFF2-40B4-BE49-F238E27FC236}">
                <a16:creationId xmlns:a16="http://schemas.microsoft.com/office/drawing/2014/main" id="{A3AD3FE8-4483-486C-875F-111F0E2EBD78}"/>
              </a:ext>
            </a:extLst>
          </p:cNvPr>
          <p:cNvSpPr>
            <a:spLocks xmlns:a="http://schemas.openxmlformats.org/drawingml/2006/main" noGrp="1"/>
          </p:cNvSpPr>
          <p:nvPr/>
        </p:nvSpPr>
        <p:spPr>
          <a:xfrm xmlns:a="http://schemas.openxmlformats.org/drawingml/2006/main">
            <a:off x="609600" y="65532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6F756F"/>
                </a:solidFill>
              </a:defRPr>
            </a:pPr>
            <a:r>
              <a:rPr sz="825" b="1">
                <a:solidFill>
                  <a:srgbClr val="6F756F"/>
                </a:solidFill>
              </a:rPr>
              <a:t>SMARTFORGE · FINITE-CAPACITY MANUFACTURING DECISIONS</a:t>
            </a:r>
          </a:p>
        </p:txBody>
      </p:sp>
    </p:spTree>
    <p:extLst>
      <p:ext uri="{BB962C8B-B14F-4D97-AF65-F5344CB8AC3E}">
        <p14:creationId xmlns:p14="http://schemas.microsoft.com/office/powerpoint/2010/main" val="1739651974"/>
      </p:ext>
    </p:extLst>
  </p:cSld>
</p:sld>
</file>

<file path=ppt/slides/slide8.xml><?xml version="1.0" encoding="utf-8"?>
<p:sld xmlns:p="http://schemas.openxmlformats.org/presentationml/2006/main">
  <p:cSld>
    <p:bg>
      <p:bgPr>
        <a:solidFill xmlns:a="http://schemas.openxmlformats.org/drawingml/2006/main">
          <a:srgbClr val="0B0E0D"/>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F57865E-CAE9-4661-8268-145F94694A47}"/>
              </a:ext>
            </a:extLst>
          </p:cNvPr>
          <p:cNvSpPr>
            <a:spLocks xmlns:a="http://schemas.openxmlformats.org/drawingml/2006/main" noGrp="1"/>
          </p:cNvSpPr>
          <p:nvPr/>
        </p:nvSpPr>
        <p:spPr>
          <a:xfrm xmlns:a="http://schemas.openxmlformats.org/drawingml/2006/main">
            <a:off x="609600" y="323850"/>
            <a:ext cx="447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C9A86A"/>
                </a:solidFill>
              </a:defRPr>
            </a:pPr>
            <a:r>
              <a:rPr sz="1050" b="1">
                <a:solidFill>
                  <a:srgbClr val="C9A86A"/>
                </a:solidFill>
              </a:rPr>
              <a:t>POLICY TRADE-OFFS</a:t>
            </a:r>
          </a:p>
        </p:txBody>
      </p:sp>
      <p:sp>
        <p:nvSpPr>
          <p:cNvPr id="2" name="">
            <a:extLst xmlns:a="http://schemas.openxmlformats.org/drawingml/2006/main">
              <a:ext uri="{FF2B5EF4-FFF2-40B4-BE49-F238E27FC236}">
                <a16:creationId xmlns:a16="http://schemas.microsoft.com/office/drawing/2014/main" id="{152E39DB-25CF-4459-B50D-1BCFEC0A18E9}"/>
              </a:ext>
            </a:extLst>
          </p:cNvPr>
          <p:cNvSpPr>
            <a:spLocks xmlns:a="http://schemas.openxmlformats.org/drawingml/2006/main" noGrp="1"/>
          </p:cNvSpPr>
          <p:nvPr/>
        </p:nvSpPr>
        <p:spPr>
          <a:xfrm xmlns:a="http://schemas.openxmlformats.org/drawingml/2006/main">
            <a:off x="609600" y="647700"/>
            <a:ext cx="10934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F4F0E6"/>
                </a:solidFill>
              </a:defRPr>
            </a:pPr>
            <a:r>
              <a:rPr sz="3000" b="1">
                <a:solidFill>
                  <a:srgbClr val="F4F0E6"/>
                </a:solidFill>
              </a:rPr>
              <a:t>The cheapest plan is not automatically the best plan</a:t>
            </a:r>
          </a:p>
        </p:txBody>
      </p:sp>
      <p:sp>
        <p:nvSpPr>
          <p:cNvPr id="3" name="">
            <a:extLst xmlns:a="http://schemas.openxmlformats.org/drawingml/2006/main">
              <a:ext uri="{FF2B5EF4-FFF2-40B4-BE49-F238E27FC236}">
                <a16:creationId xmlns:a16="http://schemas.microsoft.com/office/drawing/2014/main" id="{D04E0260-E692-412A-AC37-4B17F8CED14A}"/>
              </a:ext>
            </a:extLst>
          </p:cNvPr>
          <p:cNvSpPr>
            <a:spLocks xmlns:a="http://schemas.openxmlformats.org/drawingml/2006/main" noGrp="1"/>
          </p:cNvSpPr>
          <p:nvPr/>
        </p:nvSpPr>
        <p:spPr>
          <a:xfrm xmlns:a="http://schemas.openxmlformats.org/drawingml/2006/main">
            <a:off x="609600" y="1238250"/>
            <a:ext cx="10972800" cy="0"/>
          </a:xfrm>
          <a:prstGeom xmlns:a="http://schemas.openxmlformats.org/drawingml/2006/main" prst="line">
            <a:avLst/>
          </a:prstGeom>
          <a:noFill xmlns:a="http://schemas.openxmlformats.org/drawingml/2006/main"/>
          <a:ln xmlns:a="http://schemas.openxmlformats.org/drawingml/2006/main" w="9525">
            <a:solidFill>
              <a:srgbClr val="303731"/>
            </a:solidFill>
            <a:prstDash val="solid"/>
          </a:ln>
        </p:spPr>
      </p:sp>
      <p:sp>
        <p:nvSpPr>
          <p:cNvPr id="4" name="">
            <a:extLst xmlns:a="http://schemas.openxmlformats.org/drawingml/2006/main">
              <a:ext uri="{FF2B5EF4-FFF2-40B4-BE49-F238E27FC236}">
                <a16:creationId xmlns:a16="http://schemas.microsoft.com/office/drawing/2014/main" id="{FD26E172-FF5B-494F-9151-238F9E728680}"/>
              </a:ext>
            </a:extLst>
          </p:cNvPr>
          <p:cNvSpPr>
            <a:spLocks xmlns:a="http://schemas.openxmlformats.org/drawingml/2006/main" noGrp="1"/>
          </p:cNvSpPr>
          <p:nvPr/>
        </p:nvSpPr>
        <p:spPr>
          <a:xfrm xmlns:a="http://schemas.openxmlformats.org/drawingml/2006/main">
            <a:off x="11106150" y="3238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6F756F"/>
                </a:solidFill>
              </a:defRPr>
            </a:pPr>
            <a:r>
              <a:rPr sz="1050" b="1">
                <a:solidFill>
                  <a:srgbClr val="6F756F"/>
                </a:solidFill>
              </a:rPr>
              <a:t>08</a:t>
            </a:r>
          </a:p>
        </p:txBody>
      </p:sp>
      <p:sp>
        <p:nvSpPr>
          <p:cNvPr id="5" name="">
            <a:extLst xmlns:a="http://schemas.openxmlformats.org/drawingml/2006/main">
              <a:ext uri="{FF2B5EF4-FFF2-40B4-BE49-F238E27FC236}">
                <a16:creationId xmlns:a16="http://schemas.microsoft.com/office/drawing/2014/main" id="{F0DD66A9-05C8-4F84-B7B9-8AABC2153020}"/>
              </a:ext>
            </a:extLst>
          </p:cNvPr>
          <p:cNvSpPr>
            <a:spLocks xmlns:a="http://schemas.openxmlformats.org/drawingml/2006/main" noGrp="1"/>
          </p:cNvSpPr>
          <p:nvPr/>
        </p:nvSpPr>
        <p:spPr>
          <a:xfrm xmlns:a="http://schemas.openxmlformats.org/drawingml/2006/main">
            <a:off x="609600" y="1543050"/>
            <a:ext cx="447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C9A86A"/>
                </a:solidFill>
              </a:defRPr>
            </a:pPr>
            <a:r>
              <a:rPr sz="975" b="1">
                <a:solidFill>
                  <a:srgbClr val="C9A86A"/>
                </a:solidFill>
              </a:rPr>
              <a:t>SERVICE + RECOVERY RESERVE</a:t>
            </a:r>
          </a:p>
        </p:txBody>
      </p:sp>
      <p:graphicFrame>
        <p:nvGraphicFramePr>
          <p:cNvPr id="23" name="Chart"/>
          <p:cNvGraphicFramePr/>
          <p:nvPr/>
        </p:nvGraphicFramePr>
        <p:xfrm>
          <a:off xmlns:a="http://schemas.openxmlformats.org/drawingml/2006/main" x="495300" y="1866900"/>
          <a:ext xmlns:a="http://schemas.openxmlformats.org/drawingml/2006/main" cx="7277100" cy="3714750"/>
        </p:xfrm>
        <a:graphic xmlns:a="http://schemas.openxmlformats.org/drawingml/2006/main">
          <a:graphicData uri="http://schemas.openxmlformats.org/drawingml/2006/chart">
            <c:chart xmlns:r="http://schemas.openxmlformats.org/officeDocument/2006/relationships" xmlns:c="http://schemas.openxmlformats.org/drawingml/2006/chart" r:id="R84a5ae0d17414cdc"/>
          </a:graphicData>
        </a:graphic>
      </p:graphicFrame>
      <p:sp>
        <p:nvSpPr>
          <p:cNvPr id="7" name="">
            <a:extLst xmlns:a="http://schemas.openxmlformats.org/drawingml/2006/main">
              <a:ext uri="{FF2B5EF4-FFF2-40B4-BE49-F238E27FC236}">
                <a16:creationId xmlns:a16="http://schemas.microsoft.com/office/drawing/2014/main" id="{D0785D6E-023F-4B36-9266-884ED8254429}"/>
              </a:ext>
            </a:extLst>
          </p:cNvPr>
          <p:cNvSpPr>
            <a:spLocks xmlns:a="http://schemas.openxmlformats.org/drawingml/2006/main" noGrp="1"/>
          </p:cNvSpPr>
          <p:nvPr/>
        </p:nvSpPr>
        <p:spPr>
          <a:xfrm xmlns:a="http://schemas.openxmlformats.org/drawingml/2006/main">
            <a:off x="8134350" y="1695450"/>
            <a:ext cx="3448050" cy="3810000"/>
          </a:xfrm>
          <a:prstGeom xmlns:a="http://schemas.openxmlformats.org/drawingml/2006/main" prst="roundRect">
            <a:avLst>
              <a:gd name="adj" fmla="val 3867"/>
            </a:avLst>
          </a:prstGeom>
          <a:solidFill xmlns:a="http://schemas.openxmlformats.org/drawingml/2006/main">
            <a:srgbClr val="151917"/>
          </a:solidFill>
          <a:ln xmlns:a="http://schemas.openxmlformats.org/drawingml/2006/main" w="9525">
            <a:solidFill>
              <a:srgbClr val="303731"/>
            </a:solidFill>
            <a:prstDash val="solid"/>
          </a:ln>
        </p:spPr>
      </p:sp>
      <p:sp>
        <p:nvSpPr>
          <p:cNvPr id="8" name="">
            <a:extLst xmlns:a="http://schemas.openxmlformats.org/drawingml/2006/main">
              <a:ext uri="{FF2B5EF4-FFF2-40B4-BE49-F238E27FC236}">
                <a16:creationId xmlns:a16="http://schemas.microsoft.com/office/drawing/2014/main" id="{87D18186-0459-4407-949F-1ABC113D4181}"/>
              </a:ext>
            </a:extLst>
          </p:cNvPr>
          <p:cNvSpPr>
            <a:spLocks xmlns:a="http://schemas.openxmlformats.org/drawingml/2006/main" noGrp="1"/>
          </p:cNvSpPr>
          <p:nvPr/>
        </p:nvSpPr>
        <p:spPr>
          <a:xfrm xmlns:a="http://schemas.openxmlformats.org/drawingml/2006/main">
            <a:off x="8401050" y="1981200"/>
            <a:ext cx="2914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C9A86A"/>
                </a:solidFill>
              </a:defRPr>
            </a:pPr>
            <a:r>
              <a:rPr sz="975" b="1">
                <a:solidFill>
                  <a:srgbClr val="C9A86A"/>
                </a:solidFill>
              </a:rPr>
              <a:t>MANAGEMENT RECOMMENDATION</a:t>
            </a:r>
          </a:p>
        </p:txBody>
      </p:sp>
      <p:sp>
        <p:nvSpPr>
          <p:cNvPr id="9" name="">
            <a:extLst xmlns:a="http://schemas.openxmlformats.org/drawingml/2006/main">
              <a:ext uri="{FF2B5EF4-FFF2-40B4-BE49-F238E27FC236}">
                <a16:creationId xmlns:a16="http://schemas.microsoft.com/office/drawing/2014/main" id="{7C188F9B-C34A-4726-B510-93A565FABE15}"/>
              </a:ext>
            </a:extLst>
          </p:cNvPr>
          <p:cNvSpPr>
            <a:spLocks xmlns:a="http://schemas.openxmlformats.org/drawingml/2006/main" noGrp="1"/>
          </p:cNvSpPr>
          <p:nvPr/>
        </p:nvSpPr>
        <p:spPr>
          <a:xfrm xmlns:a="http://schemas.openxmlformats.org/drawingml/2006/main">
            <a:off x="8401050" y="2362200"/>
            <a:ext cx="2914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78A984"/>
                </a:solidFill>
              </a:defRPr>
            </a:pPr>
            <a:r>
              <a:rPr sz="2550" b="1">
                <a:solidFill>
                  <a:srgbClr val="78A984"/>
                </a:solidFill>
              </a:rPr>
              <a:t>Most Robust</a:t>
            </a:r>
          </a:p>
        </p:txBody>
      </p:sp>
      <p:sp>
        <p:nvSpPr>
          <p:cNvPr id="10" name="">
            <a:extLst xmlns:a="http://schemas.openxmlformats.org/drawingml/2006/main">
              <a:ext uri="{FF2B5EF4-FFF2-40B4-BE49-F238E27FC236}">
                <a16:creationId xmlns:a16="http://schemas.microsoft.com/office/drawing/2014/main" id="{1A11EB18-1010-49FB-A375-A72F61673635}"/>
              </a:ext>
            </a:extLst>
          </p:cNvPr>
          <p:cNvSpPr>
            <a:spLocks xmlns:a="http://schemas.openxmlformats.org/drawingml/2006/main" noGrp="1"/>
          </p:cNvSpPr>
          <p:nvPr/>
        </p:nvSpPr>
        <p:spPr>
          <a:xfrm xmlns:a="http://schemas.openxmlformats.org/drawingml/2006/main">
            <a:off x="8401050" y="3086100"/>
            <a:ext cx="133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4F0E6"/>
                </a:solidFill>
              </a:defRPr>
            </a:pPr>
            <a:r>
              <a:rPr sz="2700" b="1">
                <a:solidFill>
                  <a:srgbClr val="F4F0E6"/>
                </a:solidFill>
              </a:rPr>
              <a:t>₹22.9L</a:t>
            </a:r>
          </a:p>
        </p:txBody>
      </p:sp>
      <p:sp>
        <p:nvSpPr>
          <p:cNvPr id="11" name="">
            <a:extLst xmlns:a="http://schemas.openxmlformats.org/drawingml/2006/main">
              <a:ext uri="{FF2B5EF4-FFF2-40B4-BE49-F238E27FC236}">
                <a16:creationId xmlns:a16="http://schemas.microsoft.com/office/drawing/2014/main" id="{048673C3-375B-4E6B-A609-9CA2F84E29FF}"/>
              </a:ext>
            </a:extLst>
          </p:cNvPr>
          <p:cNvSpPr>
            <a:spLocks xmlns:a="http://schemas.openxmlformats.org/drawingml/2006/main" noGrp="1"/>
          </p:cNvSpPr>
          <p:nvPr/>
        </p:nvSpPr>
        <p:spPr>
          <a:xfrm xmlns:a="http://schemas.openxmlformats.org/drawingml/2006/main">
            <a:off x="8401050" y="354330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A7ACA5"/>
                </a:solidFill>
              </a:defRPr>
            </a:pPr>
            <a:r>
              <a:rPr sz="975" b="1">
                <a:solidFill>
                  <a:srgbClr val="A7ACA5"/>
                </a:solidFill>
              </a:rPr>
              <a:t>expected profit</a:t>
            </a:r>
          </a:p>
        </p:txBody>
      </p:sp>
      <p:sp>
        <p:nvSpPr>
          <p:cNvPr id="12" name="">
            <a:extLst xmlns:a="http://schemas.openxmlformats.org/drawingml/2006/main">
              <a:ext uri="{FF2B5EF4-FFF2-40B4-BE49-F238E27FC236}">
                <a16:creationId xmlns:a16="http://schemas.microsoft.com/office/drawing/2014/main" id="{CB381969-6AEC-4EBB-9047-F144F5E03970}"/>
              </a:ext>
            </a:extLst>
          </p:cNvPr>
          <p:cNvSpPr>
            <a:spLocks xmlns:a="http://schemas.openxmlformats.org/drawingml/2006/main" noGrp="1"/>
          </p:cNvSpPr>
          <p:nvPr/>
        </p:nvSpPr>
        <p:spPr>
          <a:xfrm xmlns:a="http://schemas.openxmlformats.org/drawingml/2006/main">
            <a:off x="9944100" y="3086100"/>
            <a:ext cx="114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E2C48C"/>
                </a:solidFill>
              </a:defRPr>
            </a:pPr>
            <a:r>
              <a:rPr sz="2700" b="1">
                <a:solidFill>
                  <a:srgbClr val="E2C48C"/>
                </a:solidFill>
              </a:rPr>
              <a:t>95%</a:t>
            </a:r>
          </a:p>
        </p:txBody>
      </p:sp>
      <p:sp>
        <p:nvSpPr>
          <p:cNvPr id="13" name="">
            <a:extLst xmlns:a="http://schemas.openxmlformats.org/drawingml/2006/main">
              <a:ext uri="{FF2B5EF4-FFF2-40B4-BE49-F238E27FC236}">
                <a16:creationId xmlns:a16="http://schemas.microsoft.com/office/drawing/2014/main" id="{F42E6FBB-8164-427D-B322-80C5F2056857}"/>
              </a:ext>
            </a:extLst>
          </p:cNvPr>
          <p:cNvSpPr>
            <a:spLocks xmlns:a="http://schemas.openxmlformats.org/drawingml/2006/main" noGrp="1"/>
          </p:cNvSpPr>
          <p:nvPr/>
        </p:nvSpPr>
        <p:spPr>
          <a:xfrm xmlns:a="http://schemas.openxmlformats.org/drawingml/2006/main">
            <a:off x="9944100" y="354330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A7ACA5"/>
                </a:solidFill>
              </a:defRPr>
            </a:pPr>
            <a:r>
              <a:rPr sz="975" b="1">
                <a:solidFill>
                  <a:srgbClr val="A7ACA5"/>
                </a:solidFill>
              </a:rPr>
              <a:t>on-time delivery</a:t>
            </a:r>
          </a:p>
        </p:txBody>
      </p:sp>
      <p:sp>
        <p:nvSpPr>
          <p:cNvPr id="14" name="">
            <a:extLst xmlns:a="http://schemas.openxmlformats.org/drawingml/2006/main">
              <a:ext uri="{FF2B5EF4-FFF2-40B4-BE49-F238E27FC236}">
                <a16:creationId xmlns:a16="http://schemas.microsoft.com/office/drawing/2014/main" id="{EBA40425-43CC-40AF-8BC0-A27EFF61A5AE}"/>
              </a:ext>
            </a:extLst>
          </p:cNvPr>
          <p:cNvSpPr>
            <a:spLocks xmlns:a="http://schemas.openxmlformats.org/drawingml/2006/main" noGrp="1"/>
          </p:cNvSpPr>
          <p:nvPr/>
        </p:nvSpPr>
        <p:spPr>
          <a:xfrm xmlns:a="http://schemas.openxmlformats.org/drawingml/2006/main">
            <a:off x="8401050" y="4000500"/>
            <a:ext cx="2914650" cy="0"/>
          </a:xfrm>
          <a:prstGeom xmlns:a="http://schemas.openxmlformats.org/drawingml/2006/main" prst="line">
            <a:avLst/>
          </a:prstGeom>
          <a:noFill xmlns:a="http://schemas.openxmlformats.org/drawingml/2006/main"/>
          <a:ln xmlns:a="http://schemas.openxmlformats.org/drawingml/2006/main" w="9525">
            <a:solidFill>
              <a:srgbClr val="303731"/>
            </a:solidFill>
            <a:prstDash val="solid"/>
          </a:ln>
        </p:spPr>
      </p:sp>
      <p:sp>
        <p:nvSpPr>
          <p:cNvPr id="15" name="">
            <a:extLst xmlns:a="http://schemas.openxmlformats.org/drawingml/2006/main">
              <a:ext uri="{FF2B5EF4-FFF2-40B4-BE49-F238E27FC236}">
                <a16:creationId xmlns:a16="http://schemas.microsoft.com/office/drawing/2014/main" id="{A4CC8C7F-201D-4FFB-90E2-4606C8C92FB2}"/>
              </a:ext>
            </a:extLst>
          </p:cNvPr>
          <p:cNvSpPr>
            <a:spLocks xmlns:a="http://schemas.openxmlformats.org/drawingml/2006/main" noGrp="1"/>
          </p:cNvSpPr>
          <p:nvPr/>
        </p:nvSpPr>
        <p:spPr>
          <a:xfrm xmlns:a="http://schemas.openxmlformats.org/drawingml/2006/main">
            <a:off x="8401050" y="4267200"/>
            <a:ext cx="29146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A7ACA5"/>
                </a:solidFill>
              </a:defRPr>
            </a:pPr>
            <a:r>
              <a:rPr sz="1275" b="0">
                <a:solidFill>
                  <a:srgbClr val="A7ACA5"/>
                </a:solidFill>
              </a:rPr>
              <a:t>14% reserve around constrained and fragile resources absorbs disruption for only ₹20K less expected profit than the nominally cheapest plan.</a:t>
            </a:r>
          </a:p>
        </p:txBody>
      </p:sp>
      <p:sp>
        <p:nvSpPr>
          <p:cNvPr id="16" name="">
            <a:extLst xmlns:a="http://schemas.openxmlformats.org/drawingml/2006/main">
              <a:ext uri="{FF2B5EF4-FFF2-40B4-BE49-F238E27FC236}">
                <a16:creationId xmlns:a16="http://schemas.microsoft.com/office/drawing/2014/main" id="{C04A983E-A029-47D7-9A40-D9A9D2B474D0}"/>
              </a:ext>
            </a:extLst>
          </p:cNvPr>
          <p:cNvSpPr>
            <a:spLocks xmlns:a="http://schemas.openxmlformats.org/drawingml/2006/main" noGrp="1"/>
          </p:cNvSpPr>
          <p:nvPr/>
        </p:nvSpPr>
        <p:spPr>
          <a:xfrm xmlns:a="http://schemas.openxmlformats.org/drawingml/2006/main">
            <a:off x="609600" y="58102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6F756F"/>
                </a:solidFill>
              </a:defRPr>
            </a:pPr>
            <a:r>
              <a:rPr sz="975" b="0">
                <a:solidFill>
                  <a:srgbClr val="6F756F"/>
                </a:solidFill>
              </a:rPr>
              <a:t>Demo policy metrics; live API values replace the fallback when available.</a:t>
            </a:r>
          </a:p>
        </p:txBody>
      </p:sp>
      <p:sp>
        <p:nvSpPr>
          <p:cNvPr id="17" name="">
            <a:extLst xmlns:a="http://schemas.openxmlformats.org/drawingml/2006/main">
              <a:ext uri="{FF2B5EF4-FFF2-40B4-BE49-F238E27FC236}">
                <a16:creationId xmlns:a16="http://schemas.microsoft.com/office/drawing/2014/main" id="{5886E6DA-AD3F-4ED8-A22C-FDD93633BD38}"/>
              </a:ext>
            </a:extLst>
          </p:cNvPr>
          <p:cNvSpPr>
            <a:spLocks xmlns:a="http://schemas.openxmlformats.org/drawingml/2006/main" noGrp="1"/>
          </p:cNvSpPr>
          <p:nvPr/>
        </p:nvSpPr>
        <p:spPr>
          <a:xfrm xmlns:a="http://schemas.openxmlformats.org/drawingml/2006/main">
            <a:off x="609600" y="65532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6F756F"/>
                </a:solidFill>
              </a:defRPr>
            </a:pPr>
            <a:r>
              <a:rPr sz="825" b="1">
                <a:solidFill>
                  <a:srgbClr val="6F756F"/>
                </a:solidFill>
              </a:rPr>
              <a:t>SMARTFORGE · FINITE-CAPACITY MANUFACTURING DECISIONS</a:t>
            </a:r>
          </a:p>
        </p:txBody>
      </p:sp>
    </p:spTree>
    <p:extLst>
      <p:ext uri="{BB962C8B-B14F-4D97-AF65-F5344CB8AC3E}">
        <p14:creationId xmlns:p14="http://schemas.microsoft.com/office/powerpoint/2010/main" val="924462909"/>
      </p:ext>
    </p:extLst>
  </p:cSld>
</p:sld>
</file>

<file path=ppt/slides/slide9.xml><?xml version="1.0" encoding="utf-8"?>
<p:sld xmlns:p="http://schemas.openxmlformats.org/presentationml/2006/main">
  <p:cSld>
    <p:bg>
      <p:bgPr>
        <a:solidFill xmlns:a="http://schemas.openxmlformats.org/drawingml/2006/main">
          <a:srgbClr val="0B0E0D"/>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3D21BF5-DF36-491A-B252-B9EDBFCA9312}"/>
              </a:ext>
            </a:extLst>
          </p:cNvPr>
          <p:cNvSpPr>
            <a:spLocks xmlns:a="http://schemas.openxmlformats.org/drawingml/2006/main" noGrp="1"/>
          </p:cNvSpPr>
          <p:nvPr/>
        </p:nvSpPr>
        <p:spPr>
          <a:xfrm xmlns:a="http://schemas.openxmlformats.org/drawingml/2006/main">
            <a:off x="609600" y="323850"/>
            <a:ext cx="447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C9A86A"/>
                </a:solidFill>
              </a:defRPr>
            </a:pPr>
            <a:r>
              <a:rPr sz="1050" b="1">
                <a:solidFill>
                  <a:srgbClr val="C9A86A"/>
                </a:solidFill>
              </a:rPr>
              <a:t>INDUSTRIAL SAAS EXPERIENCE</a:t>
            </a:r>
          </a:p>
        </p:txBody>
      </p:sp>
      <p:sp>
        <p:nvSpPr>
          <p:cNvPr id="2" name="">
            <a:extLst xmlns:a="http://schemas.openxmlformats.org/drawingml/2006/main">
              <a:ext uri="{FF2B5EF4-FFF2-40B4-BE49-F238E27FC236}">
                <a16:creationId xmlns:a16="http://schemas.microsoft.com/office/drawing/2014/main" id="{19CBB48A-6C34-40FE-9D37-C6618410D576}"/>
              </a:ext>
            </a:extLst>
          </p:cNvPr>
          <p:cNvSpPr>
            <a:spLocks xmlns:a="http://schemas.openxmlformats.org/drawingml/2006/main" noGrp="1"/>
          </p:cNvSpPr>
          <p:nvPr/>
        </p:nvSpPr>
        <p:spPr>
          <a:xfrm xmlns:a="http://schemas.openxmlformats.org/drawingml/2006/main">
            <a:off x="609600" y="647700"/>
            <a:ext cx="10934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F4F0E6"/>
                </a:solidFill>
              </a:defRPr>
            </a:pPr>
            <a:r>
              <a:rPr sz="3000" b="1">
                <a:solidFill>
                  <a:srgbClr val="F4F0E6"/>
                </a:solidFill>
              </a:rPr>
              <a:t>Role-based views turn factory data into decisions</a:t>
            </a:r>
          </a:p>
        </p:txBody>
      </p:sp>
      <p:sp>
        <p:nvSpPr>
          <p:cNvPr id="3" name="">
            <a:extLst xmlns:a="http://schemas.openxmlformats.org/drawingml/2006/main">
              <a:ext uri="{FF2B5EF4-FFF2-40B4-BE49-F238E27FC236}">
                <a16:creationId xmlns:a16="http://schemas.microsoft.com/office/drawing/2014/main" id="{5C3309B2-EBD8-44BC-88A1-884EF90F26E0}"/>
              </a:ext>
            </a:extLst>
          </p:cNvPr>
          <p:cNvSpPr>
            <a:spLocks xmlns:a="http://schemas.openxmlformats.org/drawingml/2006/main" noGrp="1"/>
          </p:cNvSpPr>
          <p:nvPr/>
        </p:nvSpPr>
        <p:spPr>
          <a:xfrm xmlns:a="http://schemas.openxmlformats.org/drawingml/2006/main">
            <a:off x="609600" y="1238250"/>
            <a:ext cx="10972800" cy="0"/>
          </a:xfrm>
          <a:prstGeom xmlns:a="http://schemas.openxmlformats.org/drawingml/2006/main" prst="line">
            <a:avLst/>
          </a:prstGeom>
          <a:noFill xmlns:a="http://schemas.openxmlformats.org/drawingml/2006/main"/>
          <a:ln xmlns:a="http://schemas.openxmlformats.org/drawingml/2006/main" w="9525">
            <a:solidFill>
              <a:srgbClr val="303731"/>
            </a:solidFill>
            <a:prstDash val="solid"/>
          </a:ln>
        </p:spPr>
      </p:sp>
      <p:sp>
        <p:nvSpPr>
          <p:cNvPr id="4" name="">
            <a:extLst xmlns:a="http://schemas.openxmlformats.org/drawingml/2006/main">
              <a:ext uri="{FF2B5EF4-FFF2-40B4-BE49-F238E27FC236}">
                <a16:creationId xmlns:a16="http://schemas.microsoft.com/office/drawing/2014/main" id="{81FB0AC5-0A97-46EA-B444-C02F771AE50C}"/>
              </a:ext>
            </a:extLst>
          </p:cNvPr>
          <p:cNvSpPr>
            <a:spLocks xmlns:a="http://schemas.openxmlformats.org/drawingml/2006/main" noGrp="1"/>
          </p:cNvSpPr>
          <p:nvPr/>
        </p:nvSpPr>
        <p:spPr>
          <a:xfrm xmlns:a="http://schemas.openxmlformats.org/drawingml/2006/main">
            <a:off x="11106150" y="3238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6F756F"/>
                </a:solidFill>
              </a:defRPr>
            </a:pPr>
            <a:r>
              <a:rPr sz="1050" b="1">
                <a:solidFill>
                  <a:srgbClr val="6F756F"/>
                </a:solidFill>
              </a:rPr>
              <a:t>09</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c13c0b7ee8da4e29"/>
          <a:srcRect xmlns:a="http://schemas.openxmlformats.org/drawingml/2006/main" l="22679" t="0" r="22679" b="0"/>
          <a:stretch xmlns:a="http://schemas.openxmlformats.org/drawingml/2006/main">
            <a:fillRect l="0" t="0" r="0" b="0"/>
          </a:stretch>
        </p:blipFill>
        <p:spPr>
          <a:xfrm xmlns:a="http://schemas.openxmlformats.org/drawingml/2006/main">
            <a:off x="609600" y="1600200"/>
            <a:ext cx="3238500" cy="3333750"/>
          </a:xfrm>
          <a:prstGeom xmlns:a="http://schemas.openxmlformats.org/drawingml/2006/main" prst="roundRect">
            <a:avLst>
              <a:gd name="adj" fmla="val 4118"/>
            </a:avLst>
          </a:prstGeom>
        </p:spPr>
      </p:pic>
      <p:sp>
        <p:nvSpPr>
          <p:cNvPr id="6" name="">
            <a:extLst xmlns:a="http://schemas.openxmlformats.org/drawingml/2006/main">
              <a:ext uri="{FF2B5EF4-FFF2-40B4-BE49-F238E27FC236}">
                <a16:creationId xmlns:a16="http://schemas.microsoft.com/office/drawing/2014/main" id="{A13499F0-8ABB-4113-AA41-11393FC77116}"/>
              </a:ext>
            </a:extLst>
          </p:cNvPr>
          <p:cNvSpPr>
            <a:spLocks xmlns:a="http://schemas.openxmlformats.org/drawingml/2006/main" noGrp="1"/>
          </p:cNvSpPr>
          <p:nvPr/>
        </p:nvSpPr>
        <p:spPr>
          <a:xfrm xmlns:a="http://schemas.openxmlformats.org/drawingml/2006/main">
            <a:off x="609600" y="1600200"/>
            <a:ext cx="3238500" cy="3333750"/>
          </a:xfrm>
          <a:prstGeom xmlns:a="http://schemas.openxmlformats.org/drawingml/2006/main" prst="roundRect">
            <a:avLst>
              <a:gd name="adj" fmla="val 4118"/>
            </a:avLst>
          </a:prstGeom>
          <a:noFill xmlns:a="http://schemas.openxmlformats.org/drawingml/2006/main"/>
          <a:ln xmlns:a="http://schemas.openxmlformats.org/drawingml/2006/main" w="9525">
            <a:solidFill>
              <a:srgbClr val="303731"/>
            </a:solidFill>
            <a:prstDash val="solid"/>
          </a:ln>
        </p:spPr>
      </p:sp>
      <p:sp>
        <p:nvSpPr>
          <p:cNvPr id="7" name="">
            <a:extLst xmlns:a="http://schemas.openxmlformats.org/drawingml/2006/main">
              <a:ext uri="{FF2B5EF4-FFF2-40B4-BE49-F238E27FC236}">
                <a16:creationId xmlns:a16="http://schemas.microsoft.com/office/drawing/2014/main" id="{4CC56D88-2F55-48A2-B96F-22672867A09D}"/>
              </a:ext>
            </a:extLst>
          </p:cNvPr>
          <p:cNvSpPr>
            <a:spLocks xmlns:a="http://schemas.openxmlformats.org/drawingml/2006/main" noGrp="1"/>
          </p:cNvSpPr>
          <p:nvPr/>
        </p:nvSpPr>
        <p:spPr>
          <a:xfrm xmlns:a="http://schemas.openxmlformats.org/drawingml/2006/main">
            <a:off x="609600" y="518160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F4F0E6"/>
                </a:solidFill>
              </a:defRPr>
            </a:pPr>
            <a:r>
              <a:rPr sz="1800" b="1">
                <a:solidFill>
                  <a:srgbClr val="F4F0E6"/>
                </a:solidFill>
              </a:rPr>
              <a:t>Management</a:t>
            </a:r>
          </a:p>
        </p:txBody>
      </p:sp>
      <p:sp>
        <p:nvSpPr>
          <p:cNvPr id="8" name="">
            <a:extLst xmlns:a="http://schemas.openxmlformats.org/drawingml/2006/main">
              <a:ext uri="{FF2B5EF4-FFF2-40B4-BE49-F238E27FC236}">
                <a16:creationId xmlns:a16="http://schemas.microsoft.com/office/drawing/2014/main" id="{9100D74A-AF0D-4F49-95EB-53D1FB9C6955}"/>
              </a:ext>
            </a:extLst>
          </p:cNvPr>
          <p:cNvSpPr>
            <a:spLocks xmlns:a="http://schemas.openxmlformats.org/drawingml/2006/main" noGrp="1"/>
          </p:cNvSpPr>
          <p:nvPr/>
        </p:nvSpPr>
        <p:spPr>
          <a:xfrm xmlns:a="http://schemas.openxmlformats.org/drawingml/2006/main">
            <a:off x="609600" y="5543550"/>
            <a:ext cx="323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A7ACA5"/>
                </a:solidFill>
              </a:defRPr>
            </a:pPr>
            <a:r>
              <a:rPr sz="1200" b="0">
                <a:solidFill>
                  <a:srgbClr val="A7ACA5"/>
                </a:solidFill>
              </a:rPr>
              <a:t>Profit, delivery, utilization and penalty exposure</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fb2d7b9abd6c4151"/>
          <a:srcRect xmlns:a="http://schemas.openxmlformats.org/drawingml/2006/main" l="22679" t="0" r="22679" b="0"/>
          <a:stretch xmlns:a="http://schemas.openxmlformats.org/drawingml/2006/main">
            <a:fillRect l="0" t="0" r="0" b="0"/>
          </a:stretch>
        </p:blipFill>
        <p:spPr>
          <a:xfrm xmlns:a="http://schemas.openxmlformats.org/drawingml/2006/main">
            <a:off x="4324350" y="1600200"/>
            <a:ext cx="3238500" cy="3333750"/>
          </a:xfrm>
          <a:prstGeom xmlns:a="http://schemas.openxmlformats.org/drawingml/2006/main" prst="roundRect">
            <a:avLst>
              <a:gd name="adj" fmla="val 4118"/>
            </a:avLst>
          </a:prstGeom>
        </p:spPr>
      </p:pic>
      <p:sp>
        <p:nvSpPr>
          <p:cNvPr id="10" name="">
            <a:extLst xmlns:a="http://schemas.openxmlformats.org/drawingml/2006/main">
              <a:ext uri="{FF2B5EF4-FFF2-40B4-BE49-F238E27FC236}">
                <a16:creationId xmlns:a16="http://schemas.microsoft.com/office/drawing/2014/main" id="{4E781600-913B-4014-AF4E-F3F13B5F6BBF}"/>
              </a:ext>
            </a:extLst>
          </p:cNvPr>
          <p:cNvSpPr>
            <a:spLocks xmlns:a="http://schemas.openxmlformats.org/drawingml/2006/main" noGrp="1"/>
          </p:cNvSpPr>
          <p:nvPr/>
        </p:nvSpPr>
        <p:spPr>
          <a:xfrm xmlns:a="http://schemas.openxmlformats.org/drawingml/2006/main">
            <a:off x="4324350" y="1600200"/>
            <a:ext cx="3238500" cy="3333750"/>
          </a:xfrm>
          <a:prstGeom xmlns:a="http://schemas.openxmlformats.org/drawingml/2006/main" prst="roundRect">
            <a:avLst>
              <a:gd name="adj" fmla="val 4118"/>
            </a:avLst>
          </a:prstGeom>
          <a:noFill xmlns:a="http://schemas.openxmlformats.org/drawingml/2006/main"/>
          <a:ln xmlns:a="http://schemas.openxmlformats.org/drawingml/2006/main" w="9525">
            <a:solidFill>
              <a:srgbClr val="303731"/>
            </a:solidFill>
            <a:prstDash val="solid"/>
          </a:ln>
        </p:spPr>
      </p:sp>
      <p:sp>
        <p:nvSpPr>
          <p:cNvPr id="11" name="">
            <a:extLst xmlns:a="http://schemas.openxmlformats.org/drawingml/2006/main">
              <a:ext uri="{FF2B5EF4-FFF2-40B4-BE49-F238E27FC236}">
                <a16:creationId xmlns:a16="http://schemas.microsoft.com/office/drawing/2014/main" id="{2311865A-E619-4F12-8602-3F94FEDA3FA6}"/>
              </a:ext>
            </a:extLst>
          </p:cNvPr>
          <p:cNvSpPr>
            <a:spLocks xmlns:a="http://schemas.openxmlformats.org/drawingml/2006/main" noGrp="1"/>
          </p:cNvSpPr>
          <p:nvPr/>
        </p:nvSpPr>
        <p:spPr>
          <a:xfrm xmlns:a="http://schemas.openxmlformats.org/drawingml/2006/main">
            <a:off x="4324350" y="518160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F4F0E6"/>
                </a:solidFill>
              </a:defRPr>
            </a:pPr>
            <a:r>
              <a:rPr sz="1800" b="1">
                <a:solidFill>
                  <a:srgbClr val="F4F0E6"/>
                </a:solidFill>
              </a:rPr>
              <a:t>Planning</a:t>
            </a:r>
          </a:p>
        </p:txBody>
      </p:sp>
      <p:sp>
        <p:nvSpPr>
          <p:cNvPr id="12" name="">
            <a:extLst xmlns:a="http://schemas.openxmlformats.org/drawingml/2006/main">
              <a:ext uri="{FF2B5EF4-FFF2-40B4-BE49-F238E27FC236}">
                <a16:creationId xmlns:a16="http://schemas.microsoft.com/office/drawing/2014/main" id="{1998D3EA-49FF-456D-ADBE-2A8059B4BC15}"/>
              </a:ext>
            </a:extLst>
          </p:cNvPr>
          <p:cNvSpPr>
            <a:spLocks xmlns:a="http://schemas.openxmlformats.org/drawingml/2006/main" noGrp="1"/>
          </p:cNvSpPr>
          <p:nvPr/>
        </p:nvSpPr>
        <p:spPr>
          <a:xfrm xmlns:a="http://schemas.openxmlformats.org/drawingml/2006/main">
            <a:off x="4324350" y="5543550"/>
            <a:ext cx="323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A7ACA5"/>
                </a:solidFill>
              </a:defRPr>
            </a:pPr>
            <a:r>
              <a:rPr sz="1200" b="0">
                <a:solidFill>
                  <a:srgbClr val="A7ACA5"/>
                </a:solidFill>
              </a:rPr>
              <a:t>Constraint load, remaining hours and recovery options</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e3e6dd8771264f40"/>
          <a:srcRect xmlns:a="http://schemas.openxmlformats.org/drawingml/2006/main" l="22679" t="0" r="22679" b="0"/>
          <a:stretch xmlns:a="http://schemas.openxmlformats.org/drawingml/2006/main">
            <a:fillRect l="0" t="0" r="0" b="0"/>
          </a:stretch>
        </p:blipFill>
        <p:spPr>
          <a:xfrm xmlns:a="http://schemas.openxmlformats.org/drawingml/2006/main">
            <a:off x="8039100" y="1600200"/>
            <a:ext cx="3238500" cy="3333750"/>
          </a:xfrm>
          <a:prstGeom xmlns:a="http://schemas.openxmlformats.org/drawingml/2006/main" prst="roundRect">
            <a:avLst>
              <a:gd name="adj" fmla="val 4118"/>
            </a:avLst>
          </a:prstGeom>
        </p:spPr>
      </p:pic>
      <p:sp>
        <p:nvSpPr>
          <p:cNvPr id="14" name="">
            <a:extLst xmlns:a="http://schemas.openxmlformats.org/drawingml/2006/main">
              <a:ext uri="{FF2B5EF4-FFF2-40B4-BE49-F238E27FC236}">
                <a16:creationId xmlns:a16="http://schemas.microsoft.com/office/drawing/2014/main" id="{F6C95F3F-208A-4E06-9795-9A3F9C642213}"/>
              </a:ext>
            </a:extLst>
          </p:cNvPr>
          <p:cNvSpPr>
            <a:spLocks xmlns:a="http://schemas.openxmlformats.org/drawingml/2006/main" noGrp="1"/>
          </p:cNvSpPr>
          <p:nvPr/>
        </p:nvSpPr>
        <p:spPr>
          <a:xfrm xmlns:a="http://schemas.openxmlformats.org/drawingml/2006/main">
            <a:off x="8039100" y="1600200"/>
            <a:ext cx="3238500" cy="3333750"/>
          </a:xfrm>
          <a:prstGeom xmlns:a="http://schemas.openxmlformats.org/drawingml/2006/main" prst="roundRect">
            <a:avLst>
              <a:gd name="adj" fmla="val 4118"/>
            </a:avLst>
          </a:prstGeom>
          <a:noFill xmlns:a="http://schemas.openxmlformats.org/drawingml/2006/main"/>
          <a:ln xmlns:a="http://schemas.openxmlformats.org/drawingml/2006/main" w="9525">
            <a:solidFill>
              <a:srgbClr val="303731"/>
            </a:solidFill>
            <a:prstDash val="solid"/>
          </a:ln>
        </p:spPr>
      </p:sp>
      <p:sp>
        <p:nvSpPr>
          <p:cNvPr id="15" name="">
            <a:extLst xmlns:a="http://schemas.openxmlformats.org/drawingml/2006/main">
              <a:ext uri="{FF2B5EF4-FFF2-40B4-BE49-F238E27FC236}">
                <a16:creationId xmlns:a16="http://schemas.microsoft.com/office/drawing/2014/main" id="{4613D983-BA6F-4085-A3FF-96A0DA97AD0B}"/>
              </a:ext>
            </a:extLst>
          </p:cNvPr>
          <p:cNvSpPr>
            <a:spLocks xmlns:a="http://schemas.openxmlformats.org/drawingml/2006/main" noGrp="1"/>
          </p:cNvSpPr>
          <p:nvPr/>
        </p:nvSpPr>
        <p:spPr>
          <a:xfrm xmlns:a="http://schemas.openxmlformats.org/drawingml/2006/main">
            <a:off x="8039100" y="518160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F4F0E6"/>
                </a:solidFill>
              </a:defRPr>
            </a:pPr>
            <a:r>
              <a:rPr sz="1800" b="1">
                <a:solidFill>
                  <a:srgbClr val="F4F0E6"/>
                </a:solidFill>
              </a:rPr>
              <a:t>Maintenance</a:t>
            </a:r>
          </a:p>
        </p:txBody>
      </p:sp>
      <p:sp>
        <p:nvSpPr>
          <p:cNvPr id="16" name="">
            <a:extLst xmlns:a="http://schemas.openxmlformats.org/drawingml/2006/main">
              <a:ext uri="{FF2B5EF4-FFF2-40B4-BE49-F238E27FC236}">
                <a16:creationId xmlns:a16="http://schemas.microsoft.com/office/drawing/2014/main" id="{4B45F9A8-B4F3-4618-8B2A-294E374ECFF5}"/>
              </a:ext>
            </a:extLst>
          </p:cNvPr>
          <p:cNvSpPr>
            <a:spLocks xmlns:a="http://schemas.openxmlformats.org/drawingml/2006/main" noGrp="1"/>
          </p:cNvSpPr>
          <p:nvPr/>
        </p:nvSpPr>
        <p:spPr>
          <a:xfrm xmlns:a="http://schemas.openxmlformats.org/drawingml/2006/main">
            <a:off x="8039100" y="5543550"/>
            <a:ext cx="323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A7ACA5"/>
                </a:solidFill>
              </a:defRPr>
            </a:pPr>
            <a:r>
              <a:rPr sz="1200" b="0">
                <a:solidFill>
                  <a:srgbClr val="A7ACA5"/>
                </a:solidFill>
              </a:rPr>
              <a:t>Health ranking, failure basis and intervention priority</a:t>
            </a:r>
          </a:p>
        </p:txBody>
      </p:sp>
      <p:sp>
        <p:nvSpPr>
          <p:cNvPr id="17" name="">
            <a:extLst xmlns:a="http://schemas.openxmlformats.org/drawingml/2006/main">
              <a:ext uri="{FF2B5EF4-FFF2-40B4-BE49-F238E27FC236}">
                <a16:creationId xmlns:a16="http://schemas.microsoft.com/office/drawing/2014/main" id="{262A520B-28FB-4B38-AD9C-95BAD67C4E01}"/>
              </a:ext>
            </a:extLst>
          </p:cNvPr>
          <p:cNvSpPr>
            <a:spLocks xmlns:a="http://schemas.openxmlformats.org/drawingml/2006/main" noGrp="1"/>
          </p:cNvSpPr>
          <p:nvPr/>
        </p:nvSpPr>
        <p:spPr>
          <a:xfrm xmlns:a="http://schemas.openxmlformats.org/drawingml/2006/main">
            <a:off x="609600" y="65532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6F756F"/>
                </a:solidFill>
              </a:defRPr>
            </a:pPr>
            <a:r>
              <a:rPr sz="825" b="1">
                <a:solidFill>
                  <a:srgbClr val="6F756F"/>
                </a:solidFill>
              </a:rPr>
              <a:t>SMARTFORGE · FINITE-CAPACITY MANUFACTURING DECISIONS</a:t>
            </a:r>
          </a:p>
        </p:txBody>
      </p:sp>
    </p:spTree>
    <p:extLst>
      <p:ext uri="{BB962C8B-B14F-4D97-AF65-F5344CB8AC3E}">
        <p14:creationId xmlns:p14="http://schemas.microsoft.com/office/powerpoint/2010/main" val="1646537828"/>
      </p:ext>
    </p:extLst>
  </p:cSld>
</p:sld>
</file>

<file path=ppt/slides/slide10.xml><?xml version="1.0" encoding="utf-8"?>
<p:sld xmlns:p="http://schemas.openxmlformats.org/presentationml/2006/main">
  <p:cSld>
    <p:bg>
      <p:bgPr>
        <a:solidFill xmlns:a="http://schemas.openxmlformats.org/drawingml/2006/main">
          <a:srgbClr val="0B0E0D"/>
        </a:solidFill>
      </p:bgPr>
    </p:bg>
    <p:spTree>
      <p:nvGrpSpPr>
        <p:cNvPr id="1" name=""/>
        <p:cNvGrpSpPr/>
        <p:nvPr/>
      </p:nvGrpSpPr>
      <p:grpSpPr>
        <a:xfrm xmlns:a="http://schemas.openxmlformats.org/drawingml/2006/main"/>
      </p:grpSpPr>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2ac7e003e8cb438c"/>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1E3A268-C6DC-48A3-B7F3-0142288A8E6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B0E0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C17D5EC-006F-4150-AF9A-5998D32DB724}"/>
              </a:ext>
            </a:extLst>
          </p:cNvPr>
          <p:cNvSpPr>
            <a:spLocks xmlns:a="http://schemas.openxmlformats.org/drawingml/2006/main" noGrp="1"/>
          </p:cNvSpPr>
          <p:nvPr/>
        </p:nvSpPr>
        <p:spPr>
          <a:xfrm xmlns:a="http://schemas.openxmlformats.org/drawingml/2006/main">
            <a:off x="609600" y="4572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C9A86A"/>
                </a:solidFill>
              </a:defRPr>
            </a:pPr>
            <a:r>
              <a:rPr sz="1050" b="1">
                <a:solidFill>
                  <a:srgbClr val="C9A86A"/>
                </a:solidFill>
              </a:rPr>
              <a:t>THE TECHNICAL CONTRIBUTION</a:t>
            </a:r>
          </a:p>
        </p:txBody>
      </p:sp>
      <p:sp>
        <p:nvSpPr>
          <p:cNvPr id="4" name="">
            <a:extLst xmlns:a="http://schemas.openxmlformats.org/drawingml/2006/main">
              <a:ext uri="{FF2B5EF4-FFF2-40B4-BE49-F238E27FC236}">
                <a16:creationId xmlns:a16="http://schemas.microsoft.com/office/drawing/2014/main" id="{2BF090D3-5677-4951-94EA-E768B7CC0AF9}"/>
              </a:ext>
            </a:extLst>
          </p:cNvPr>
          <p:cNvSpPr>
            <a:spLocks xmlns:a="http://schemas.openxmlformats.org/drawingml/2006/main" noGrp="1"/>
          </p:cNvSpPr>
          <p:nvPr/>
        </p:nvSpPr>
        <p:spPr>
          <a:xfrm xmlns:a="http://schemas.openxmlformats.org/drawingml/2006/main">
            <a:off x="609600" y="819150"/>
            <a:ext cx="9525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F4F0E6"/>
                </a:solidFill>
              </a:defRPr>
            </a:pPr>
            <a:r>
              <a:rPr sz="3450" b="1">
                <a:solidFill>
                  <a:srgbClr val="F4F0E6"/>
                </a:solidFill>
              </a:rPr>
              <a:t>Feasibility becomes a business action</a:t>
            </a:r>
          </a:p>
        </p:txBody>
      </p:sp>
      <p:sp>
        <p:nvSpPr>
          <p:cNvPr id="5" name="">
            <a:extLst xmlns:a="http://schemas.openxmlformats.org/drawingml/2006/main">
              <a:ext uri="{FF2B5EF4-FFF2-40B4-BE49-F238E27FC236}">
                <a16:creationId xmlns:a16="http://schemas.microsoft.com/office/drawing/2014/main" id="{B4C66B5A-C76C-4C15-852E-B3B8C9ADDEBB}"/>
              </a:ext>
            </a:extLst>
          </p:cNvPr>
          <p:cNvSpPr>
            <a:spLocks xmlns:a="http://schemas.openxmlformats.org/drawingml/2006/main" noGrp="1"/>
          </p:cNvSpPr>
          <p:nvPr/>
        </p:nvSpPr>
        <p:spPr>
          <a:xfrm xmlns:a="http://schemas.openxmlformats.org/drawingml/2006/main">
            <a:off x="2647950" y="2762250"/>
            <a:ext cx="647700" cy="323850"/>
          </a:xfrm>
          <a:prstGeom xmlns:a="http://schemas.openxmlformats.org/drawingml/2006/main" prst="rightArrow">
            <a:avLst/>
          </a:prstGeom>
          <a:solidFill xmlns:a="http://schemas.openxmlformats.org/drawingml/2006/main">
            <a:srgbClr val="C9A86A"/>
          </a:solidFill>
          <a:ln xmlns:a="http://schemas.openxmlformats.org/drawingml/2006/main" w="0">
            <a:solidFill>
              <a:srgbClr val="C9A86A"/>
            </a:solidFill>
            <a:prstDash val="solid"/>
          </a:ln>
        </p:spPr>
      </p:sp>
      <p:sp>
        <p:nvSpPr>
          <p:cNvPr id="6" name="">
            <a:extLst xmlns:a="http://schemas.openxmlformats.org/drawingml/2006/main">
              <a:ext uri="{FF2B5EF4-FFF2-40B4-BE49-F238E27FC236}">
                <a16:creationId xmlns:a16="http://schemas.microsoft.com/office/drawing/2014/main" id="{A30B2428-A022-4A8C-9590-8C00227AD3ED}"/>
              </a:ext>
            </a:extLst>
          </p:cNvPr>
          <p:cNvSpPr>
            <a:spLocks xmlns:a="http://schemas.openxmlformats.org/drawingml/2006/main" noGrp="1"/>
          </p:cNvSpPr>
          <p:nvPr/>
        </p:nvSpPr>
        <p:spPr>
          <a:xfrm xmlns:a="http://schemas.openxmlformats.org/drawingml/2006/main">
            <a:off x="5391150" y="2762250"/>
            <a:ext cx="647700" cy="323850"/>
          </a:xfrm>
          <a:prstGeom xmlns:a="http://schemas.openxmlformats.org/drawingml/2006/main" prst="rightArrow">
            <a:avLst/>
          </a:prstGeom>
          <a:solidFill xmlns:a="http://schemas.openxmlformats.org/drawingml/2006/main">
            <a:srgbClr val="C9A86A"/>
          </a:solidFill>
          <a:ln xmlns:a="http://schemas.openxmlformats.org/drawingml/2006/main" w="0">
            <a:solidFill>
              <a:srgbClr val="C9A86A"/>
            </a:solidFill>
            <a:prstDash val="solid"/>
          </a:ln>
        </p:spPr>
      </p:sp>
      <p:sp>
        <p:nvSpPr>
          <p:cNvPr id="7" name="">
            <a:extLst xmlns:a="http://schemas.openxmlformats.org/drawingml/2006/main">
              <a:ext uri="{FF2B5EF4-FFF2-40B4-BE49-F238E27FC236}">
                <a16:creationId xmlns:a16="http://schemas.microsoft.com/office/drawing/2014/main" id="{B6243A18-8BB7-48B2-B191-A40BC0865671}"/>
              </a:ext>
            </a:extLst>
          </p:cNvPr>
          <p:cNvSpPr>
            <a:spLocks xmlns:a="http://schemas.openxmlformats.org/drawingml/2006/main" noGrp="1"/>
          </p:cNvSpPr>
          <p:nvPr/>
        </p:nvSpPr>
        <p:spPr>
          <a:xfrm xmlns:a="http://schemas.openxmlformats.org/drawingml/2006/main">
            <a:off x="8134350" y="2762250"/>
            <a:ext cx="647700" cy="323850"/>
          </a:xfrm>
          <a:prstGeom xmlns:a="http://schemas.openxmlformats.org/drawingml/2006/main" prst="rightArrow">
            <a:avLst/>
          </a:prstGeom>
          <a:solidFill xmlns:a="http://schemas.openxmlformats.org/drawingml/2006/main">
            <a:srgbClr val="C9A86A"/>
          </a:solidFill>
          <a:ln xmlns:a="http://schemas.openxmlformats.org/drawingml/2006/main" w="0">
            <a:solidFill>
              <a:srgbClr val="C9A86A"/>
            </a:solidFill>
            <a:prstDash val="solid"/>
          </a:ln>
        </p:spPr>
      </p:sp>
      <p:sp>
        <p:nvSpPr>
          <p:cNvPr id="8" name="">
            <a:extLst xmlns:a="http://schemas.openxmlformats.org/drawingml/2006/main">
              <a:ext uri="{FF2B5EF4-FFF2-40B4-BE49-F238E27FC236}">
                <a16:creationId xmlns:a16="http://schemas.microsoft.com/office/drawing/2014/main" id="{CD7ECDB1-0FE4-4E05-B7A8-E9FD8DD26765}"/>
              </a:ext>
            </a:extLst>
          </p:cNvPr>
          <p:cNvSpPr>
            <a:spLocks xmlns:a="http://schemas.openxmlformats.org/drawingml/2006/main" noGrp="1"/>
          </p:cNvSpPr>
          <p:nvPr/>
        </p:nvSpPr>
        <p:spPr>
          <a:xfrm xmlns:a="http://schemas.openxmlformats.org/drawingml/2006/main">
            <a:off x="609600" y="2114550"/>
            <a:ext cx="2209800" cy="1866900"/>
          </a:xfrm>
          <a:prstGeom xmlns:a="http://schemas.openxmlformats.org/drawingml/2006/main" prst="roundRect">
            <a:avLst>
              <a:gd name="adj" fmla="val 7143"/>
            </a:avLst>
          </a:prstGeom>
          <a:solidFill xmlns:a="http://schemas.openxmlformats.org/drawingml/2006/main">
            <a:srgbClr val="151917"/>
          </a:solidFill>
          <a:ln xmlns:a="http://schemas.openxmlformats.org/drawingml/2006/main" w="9525">
            <a:solidFill>
              <a:srgbClr val="303731"/>
            </a:solidFill>
            <a:prstDash val="solid"/>
          </a:ln>
        </p:spPr>
      </p:sp>
      <p:sp>
        <p:nvSpPr>
          <p:cNvPr id="9" name="">
            <a:extLst xmlns:a="http://schemas.openxmlformats.org/drawingml/2006/main">
              <a:ext uri="{FF2B5EF4-FFF2-40B4-BE49-F238E27FC236}">
                <a16:creationId xmlns:a16="http://schemas.microsoft.com/office/drawing/2014/main" id="{D1F3AFCE-46C8-4CD0-92AC-78F23519ECE5}"/>
              </a:ext>
            </a:extLst>
          </p:cNvPr>
          <p:cNvSpPr>
            <a:spLocks xmlns:a="http://schemas.openxmlformats.org/drawingml/2006/main" noGrp="1"/>
          </p:cNvSpPr>
          <p:nvPr/>
        </p:nvSpPr>
        <p:spPr>
          <a:xfrm xmlns:a="http://schemas.openxmlformats.org/drawingml/2006/main">
            <a:off x="819150" y="232410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C9A86A"/>
                </a:solidFill>
              </a:defRPr>
            </a:pPr>
            <a:r>
              <a:rPr sz="1050" b="1">
                <a:solidFill>
                  <a:srgbClr val="C9A86A"/>
                </a:solidFill>
              </a:rPr>
              <a:t>01</a:t>
            </a:r>
          </a:p>
        </p:txBody>
      </p:sp>
      <p:sp>
        <p:nvSpPr>
          <p:cNvPr id="10" name="">
            <a:extLst xmlns:a="http://schemas.openxmlformats.org/drawingml/2006/main">
              <a:ext uri="{FF2B5EF4-FFF2-40B4-BE49-F238E27FC236}">
                <a16:creationId xmlns:a16="http://schemas.microsoft.com/office/drawing/2014/main" id="{D0196823-5A22-4DC6-99F9-8F314B1F7C8C}"/>
              </a:ext>
            </a:extLst>
          </p:cNvPr>
          <p:cNvSpPr>
            <a:spLocks xmlns:a="http://schemas.openxmlformats.org/drawingml/2006/main" noGrp="1"/>
          </p:cNvSpPr>
          <p:nvPr/>
        </p:nvSpPr>
        <p:spPr>
          <a:xfrm xmlns:a="http://schemas.openxmlformats.org/drawingml/2006/main">
            <a:off x="819150" y="2724150"/>
            <a:ext cx="1790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4F0E6"/>
                </a:solidFill>
              </a:defRPr>
            </a:pPr>
            <a:r>
              <a:rPr sz="1725" b="1">
                <a:solidFill>
                  <a:srgbClr val="F4F0E6"/>
                </a:solidFill>
              </a:rPr>
              <a:t>Factory state</a:t>
            </a:r>
          </a:p>
        </p:txBody>
      </p:sp>
      <p:sp>
        <p:nvSpPr>
          <p:cNvPr id="11" name="">
            <a:extLst xmlns:a="http://schemas.openxmlformats.org/drawingml/2006/main">
              <a:ext uri="{FF2B5EF4-FFF2-40B4-BE49-F238E27FC236}">
                <a16:creationId xmlns:a16="http://schemas.microsoft.com/office/drawing/2014/main" id="{25A41407-5FD1-4F40-AFA1-3BB6BBFC4449}"/>
              </a:ext>
            </a:extLst>
          </p:cNvPr>
          <p:cNvSpPr>
            <a:spLocks xmlns:a="http://schemas.openxmlformats.org/drawingml/2006/main" noGrp="1"/>
          </p:cNvSpPr>
          <p:nvPr/>
        </p:nvSpPr>
        <p:spPr>
          <a:xfrm xmlns:a="http://schemas.openxmlformats.org/drawingml/2006/main">
            <a:off x="819150" y="3390900"/>
            <a:ext cx="1790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A7ACA5"/>
                </a:solidFill>
              </a:defRPr>
            </a:pPr>
            <a:r>
              <a:rPr sz="1200" b="0">
                <a:solidFill>
                  <a:srgbClr val="A7ACA5"/>
                </a:solidFill>
              </a:rPr>
              <a:t>Orders · machines · people · material · power</a:t>
            </a:r>
          </a:p>
        </p:txBody>
      </p:sp>
      <p:sp>
        <p:nvSpPr>
          <p:cNvPr id="12" name="">
            <a:extLst xmlns:a="http://schemas.openxmlformats.org/drawingml/2006/main">
              <a:ext uri="{FF2B5EF4-FFF2-40B4-BE49-F238E27FC236}">
                <a16:creationId xmlns:a16="http://schemas.microsoft.com/office/drawing/2014/main" id="{1FA4C1CC-1E8D-41E9-A819-6EF26810346F}"/>
              </a:ext>
            </a:extLst>
          </p:cNvPr>
          <p:cNvSpPr>
            <a:spLocks xmlns:a="http://schemas.openxmlformats.org/drawingml/2006/main" noGrp="1"/>
          </p:cNvSpPr>
          <p:nvPr/>
        </p:nvSpPr>
        <p:spPr>
          <a:xfrm xmlns:a="http://schemas.openxmlformats.org/drawingml/2006/main">
            <a:off x="3352800" y="2114550"/>
            <a:ext cx="2209800" cy="1866900"/>
          </a:xfrm>
          <a:prstGeom xmlns:a="http://schemas.openxmlformats.org/drawingml/2006/main" prst="roundRect">
            <a:avLst>
              <a:gd name="adj" fmla="val 7143"/>
            </a:avLst>
          </a:prstGeom>
          <a:solidFill xmlns:a="http://schemas.openxmlformats.org/drawingml/2006/main">
            <a:srgbClr val="151917"/>
          </a:solidFill>
          <a:ln xmlns:a="http://schemas.openxmlformats.org/drawingml/2006/main" w="9525">
            <a:solidFill>
              <a:srgbClr val="303731"/>
            </a:solidFill>
            <a:prstDash val="solid"/>
          </a:ln>
        </p:spPr>
      </p:sp>
      <p:sp>
        <p:nvSpPr>
          <p:cNvPr id="13" name="">
            <a:extLst xmlns:a="http://schemas.openxmlformats.org/drawingml/2006/main">
              <a:ext uri="{FF2B5EF4-FFF2-40B4-BE49-F238E27FC236}">
                <a16:creationId xmlns:a16="http://schemas.microsoft.com/office/drawing/2014/main" id="{1718C341-A562-45FA-83CF-7C7F84F543BB}"/>
              </a:ext>
            </a:extLst>
          </p:cNvPr>
          <p:cNvSpPr>
            <a:spLocks xmlns:a="http://schemas.openxmlformats.org/drawingml/2006/main" noGrp="1"/>
          </p:cNvSpPr>
          <p:nvPr/>
        </p:nvSpPr>
        <p:spPr>
          <a:xfrm xmlns:a="http://schemas.openxmlformats.org/drawingml/2006/main">
            <a:off x="3562350" y="232410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C9A86A"/>
                </a:solidFill>
              </a:defRPr>
            </a:pPr>
            <a:r>
              <a:rPr sz="1050" b="1">
                <a:solidFill>
                  <a:srgbClr val="C9A86A"/>
                </a:solidFill>
              </a:rPr>
              <a:t>02</a:t>
            </a:r>
          </a:p>
        </p:txBody>
      </p:sp>
      <p:sp>
        <p:nvSpPr>
          <p:cNvPr id="14" name="">
            <a:extLst xmlns:a="http://schemas.openxmlformats.org/drawingml/2006/main">
              <a:ext uri="{FF2B5EF4-FFF2-40B4-BE49-F238E27FC236}">
                <a16:creationId xmlns:a16="http://schemas.microsoft.com/office/drawing/2014/main" id="{71C8B8CD-ADE9-44E6-A704-4469930B028D}"/>
              </a:ext>
            </a:extLst>
          </p:cNvPr>
          <p:cNvSpPr>
            <a:spLocks xmlns:a="http://schemas.openxmlformats.org/drawingml/2006/main" noGrp="1"/>
          </p:cNvSpPr>
          <p:nvPr/>
        </p:nvSpPr>
        <p:spPr>
          <a:xfrm xmlns:a="http://schemas.openxmlformats.org/drawingml/2006/main">
            <a:off x="3562350" y="2724150"/>
            <a:ext cx="1790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4F0E6"/>
                </a:solidFill>
              </a:defRPr>
            </a:pPr>
            <a:r>
              <a:rPr sz="1725" b="1">
                <a:solidFill>
                  <a:srgbClr val="F4F0E6"/>
                </a:solidFill>
              </a:rPr>
              <a:t>Valid schedule</a:t>
            </a:r>
          </a:p>
        </p:txBody>
      </p:sp>
      <p:sp>
        <p:nvSpPr>
          <p:cNvPr id="15" name="">
            <a:extLst xmlns:a="http://schemas.openxmlformats.org/drawingml/2006/main">
              <a:ext uri="{FF2B5EF4-FFF2-40B4-BE49-F238E27FC236}">
                <a16:creationId xmlns:a16="http://schemas.microsoft.com/office/drawing/2014/main" id="{F151A381-E5E5-4A03-B665-CF0AB92FD57F}"/>
              </a:ext>
            </a:extLst>
          </p:cNvPr>
          <p:cNvSpPr>
            <a:spLocks xmlns:a="http://schemas.openxmlformats.org/drawingml/2006/main" noGrp="1"/>
          </p:cNvSpPr>
          <p:nvPr/>
        </p:nvSpPr>
        <p:spPr>
          <a:xfrm xmlns:a="http://schemas.openxmlformats.org/drawingml/2006/main">
            <a:off x="3562350" y="3390900"/>
            <a:ext cx="1790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A7ACA5"/>
                </a:solidFill>
              </a:defRPr>
            </a:pPr>
            <a:r>
              <a:rPr sz="1200" b="0">
                <a:solidFill>
                  <a:srgbClr val="A7ACA5"/>
                </a:solidFill>
              </a:rPr>
              <a:t>Assignments · intervals · independent checks</a:t>
            </a:r>
          </a:p>
        </p:txBody>
      </p:sp>
      <p:sp>
        <p:nvSpPr>
          <p:cNvPr id="16" name="">
            <a:extLst xmlns:a="http://schemas.openxmlformats.org/drawingml/2006/main">
              <a:ext uri="{FF2B5EF4-FFF2-40B4-BE49-F238E27FC236}">
                <a16:creationId xmlns:a16="http://schemas.microsoft.com/office/drawing/2014/main" id="{02E5D576-7DE4-4EB2-86A4-683BD5834398}"/>
              </a:ext>
            </a:extLst>
          </p:cNvPr>
          <p:cNvSpPr>
            <a:spLocks xmlns:a="http://schemas.openxmlformats.org/drawingml/2006/main" noGrp="1"/>
          </p:cNvSpPr>
          <p:nvPr/>
        </p:nvSpPr>
        <p:spPr>
          <a:xfrm xmlns:a="http://schemas.openxmlformats.org/drawingml/2006/main">
            <a:off x="6096000" y="2114550"/>
            <a:ext cx="2209800" cy="1866900"/>
          </a:xfrm>
          <a:prstGeom xmlns:a="http://schemas.openxmlformats.org/drawingml/2006/main" prst="roundRect">
            <a:avLst>
              <a:gd name="adj" fmla="val 7143"/>
            </a:avLst>
          </a:prstGeom>
          <a:solidFill xmlns:a="http://schemas.openxmlformats.org/drawingml/2006/main">
            <a:srgbClr val="151917"/>
          </a:solidFill>
          <a:ln xmlns:a="http://schemas.openxmlformats.org/drawingml/2006/main" w="9525">
            <a:solidFill>
              <a:srgbClr val="303731"/>
            </a:solidFill>
            <a:prstDash val="solid"/>
          </a:ln>
        </p:spPr>
      </p:sp>
      <p:sp>
        <p:nvSpPr>
          <p:cNvPr id="17" name="">
            <a:extLst xmlns:a="http://schemas.openxmlformats.org/drawingml/2006/main">
              <a:ext uri="{FF2B5EF4-FFF2-40B4-BE49-F238E27FC236}">
                <a16:creationId xmlns:a16="http://schemas.microsoft.com/office/drawing/2014/main" id="{6B343A37-854F-4866-914D-E6043A0FF2A9}"/>
              </a:ext>
            </a:extLst>
          </p:cNvPr>
          <p:cNvSpPr>
            <a:spLocks xmlns:a="http://schemas.openxmlformats.org/drawingml/2006/main" noGrp="1"/>
          </p:cNvSpPr>
          <p:nvPr/>
        </p:nvSpPr>
        <p:spPr>
          <a:xfrm xmlns:a="http://schemas.openxmlformats.org/drawingml/2006/main">
            <a:off x="6305550" y="232410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C9A86A"/>
                </a:solidFill>
              </a:defRPr>
            </a:pPr>
            <a:r>
              <a:rPr sz="1050" b="1">
                <a:solidFill>
                  <a:srgbClr val="C9A86A"/>
                </a:solidFill>
              </a:rPr>
              <a:t>03</a:t>
            </a:r>
          </a:p>
        </p:txBody>
      </p:sp>
      <p:sp>
        <p:nvSpPr>
          <p:cNvPr id="18" name="">
            <a:extLst xmlns:a="http://schemas.openxmlformats.org/drawingml/2006/main">
              <a:ext uri="{FF2B5EF4-FFF2-40B4-BE49-F238E27FC236}">
                <a16:creationId xmlns:a16="http://schemas.microsoft.com/office/drawing/2014/main" id="{8D485003-6437-4380-90CA-C9DF06B3C6E7}"/>
              </a:ext>
            </a:extLst>
          </p:cNvPr>
          <p:cNvSpPr>
            <a:spLocks xmlns:a="http://schemas.openxmlformats.org/drawingml/2006/main" noGrp="1"/>
          </p:cNvSpPr>
          <p:nvPr/>
        </p:nvSpPr>
        <p:spPr>
          <a:xfrm xmlns:a="http://schemas.openxmlformats.org/drawingml/2006/main">
            <a:off x="6305550" y="2724150"/>
            <a:ext cx="1790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4F0E6"/>
                </a:solidFill>
              </a:defRPr>
            </a:pPr>
            <a:r>
              <a:rPr sz="1725" b="1">
                <a:solidFill>
                  <a:srgbClr val="F4F0E6"/>
                </a:solidFill>
              </a:rPr>
              <a:t>Priced trade-off</a:t>
            </a:r>
          </a:p>
        </p:txBody>
      </p:sp>
      <p:sp>
        <p:nvSpPr>
          <p:cNvPr id="19" name="">
            <a:extLst xmlns:a="http://schemas.openxmlformats.org/drawingml/2006/main">
              <a:ext uri="{FF2B5EF4-FFF2-40B4-BE49-F238E27FC236}">
                <a16:creationId xmlns:a16="http://schemas.microsoft.com/office/drawing/2014/main" id="{35F45441-B02C-462E-94C3-1FE9F1C0C409}"/>
              </a:ext>
            </a:extLst>
          </p:cNvPr>
          <p:cNvSpPr>
            <a:spLocks xmlns:a="http://schemas.openxmlformats.org/drawingml/2006/main" noGrp="1"/>
          </p:cNvSpPr>
          <p:nvPr/>
        </p:nvSpPr>
        <p:spPr>
          <a:xfrm xmlns:a="http://schemas.openxmlformats.org/drawingml/2006/main">
            <a:off x="6305550" y="3390900"/>
            <a:ext cx="1790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A7ACA5"/>
                </a:solidFill>
              </a:defRPr>
            </a:pPr>
            <a:r>
              <a:rPr sz="1200" b="0">
                <a:solidFill>
                  <a:srgbClr val="A7ACA5"/>
                </a:solidFill>
              </a:rPr>
              <a:t>Profit · penalties · risk · reserve</a:t>
            </a:r>
          </a:p>
        </p:txBody>
      </p:sp>
      <p:sp>
        <p:nvSpPr>
          <p:cNvPr id="20" name="">
            <a:extLst xmlns:a="http://schemas.openxmlformats.org/drawingml/2006/main">
              <a:ext uri="{FF2B5EF4-FFF2-40B4-BE49-F238E27FC236}">
                <a16:creationId xmlns:a16="http://schemas.microsoft.com/office/drawing/2014/main" id="{48FB8533-8CB6-4099-84EF-0044D34EC2D4}"/>
              </a:ext>
            </a:extLst>
          </p:cNvPr>
          <p:cNvSpPr>
            <a:spLocks xmlns:a="http://schemas.openxmlformats.org/drawingml/2006/main" noGrp="1"/>
          </p:cNvSpPr>
          <p:nvPr/>
        </p:nvSpPr>
        <p:spPr>
          <a:xfrm xmlns:a="http://schemas.openxmlformats.org/drawingml/2006/main">
            <a:off x="8839200" y="2114550"/>
            <a:ext cx="2209800" cy="1866900"/>
          </a:xfrm>
          <a:prstGeom xmlns:a="http://schemas.openxmlformats.org/drawingml/2006/main" prst="roundRect">
            <a:avLst>
              <a:gd name="adj" fmla="val 7143"/>
            </a:avLst>
          </a:prstGeom>
          <a:solidFill xmlns:a="http://schemas.openxmlformats.org/drawingml/2006/main">
            <a:srgbClr val="151917"/>
          </a:solidFill>
          <a:ln xmlns:a="http://schemas.openxmlformats.org/drawingml/2006/main" w="9525">
            <a:solidFill>
              <a:srgbClr val="303731"/>
            </a:solidFill>
            <a:prstDash val="solid"/>
          </a:ln>
        </p:spPr>
      </p:sp>
      <p:sp>
        <p:nvSpPr>
          <p:cNvPr id="21" name="">
            <a:extLst xmlns:a="http://schemas.openxmlformats.org/drawingml/2006/main">
              <a:ext uri="{FF2B5EF4-FFF2-40B4-BE49-F238E27FC236}">
                <a16:creationId xmlns:a16="http://schemas.microsoft.com/office/drawing/2014/main" id="{BBF0332E-98A1-473D-AC3F-1F1A7FA9F34C}"/>
              </a:ext>
            </a:extLst>
          </p:cNvPr>
          <p:cNvSpPr>
            <a:spLocks xmlns:a="http://schemas.openxmlformats.org/drawingml/2006/main" noGrp="1"/>
          </p:cNvSpPr>
          <p:nvPr/>
        </p:nvSpPr>
        <p:spPr>
          <a:xfrm xmlns:a="http://schemas.openxmlformats.org/drawingml/2006/main">
            <a:off x="9048750" y="232410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C9A86A"/>
                </a:solidFill>
              </a:defRPr>
            </a:pPr>
            <a:r>
              <a:rPr sz="1050" b="1">
                <a:solidFill>
                  <a:srgbClr val="C9A86A"/>
                </a:solidFill>
              </a:rPr>
              <a:t>04</a:t>
            </a:r>
          </a:p>
        </p:txBody>
      </p:sp>
      <p:sp>
        <p:nvSpPr>
          <p:cNvPr id="22" name="">
            <a:extLst xmlns:a="http://schemas.openxmlformats.org/drawingml/2006/main">
              <a:ext uri="{FF2B5EF4-FFF2-40B4-BE49-F238E27FC236}">
                <a16:creationId xmlns:a16="http://schemas.microsoft.com/office/drawing/2014/main" id="{43CE9B00-A6CE-46C1-87EB-F91E3ADB3E34}"/>
              </a:ext>
            </a:extLst>
          </p:cNvPr>
          <p:cNvSpPr>
            <a:spLocks xmlns:a="http://schemas.openxmlformats.org/drawingml/2006/main" noGrp="1"/>
          </p:cNvSpPr>
          <p:nvPr/>
        </p:nvSpPr>
        <p:spPr>
          <a:xfrm xmlns:a="http://schemas.openxmlformats.org/drawingml/2006/main">
            <a:off x="9048750" y="2724150"/>
            <a:ext cx="1790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4F0E6"/>
                </a:solidFill>
              </a:defRPr>
            </a:pPr>
            <a:r>
              <a:rPr sz="1725" b="1">
                <a:solidFill>
                  <a:srgbClr val="F4F0E6"/>
                </a:solidFill>
              </a:rPr>
              <a:t>Auditable action</a:t>
            </a:r>
          </a:p>
        </p:txBody>
      </p:sp>
      <p:sp>
        <p:nvSpPr>
          <p:cNvPr id="23" name="">
            <a:extLst xmlns:a="http://schemas.openxmlformats.org/drawingml/2006/main">
              <a:ext uri="{FF2B5EF4-FFF2-40B4-BE49-F238E27FC236}">
                <a16:creationId xmlns:a16="http://schemas.microsoft.com/office/drawing/2014/main" id="{617BE7E1-F385-497A-8FCE-0169F47AB60A}"/>
              </a:ext>
            </a:extLst>
          </p:cNvPr>
          <p:cNvSpPr>
            <a:spLocks xmlns:a="http://schemas.openxmlformats.org/drawingml/2006/main" noGrp="1"/>
          </p:cNvSpPr>
          <p:nvPr/>
        </p:nvSpPr>
        <p:spPr>
          <a:xfrm xmlns:a="http://schemas.openxmlformats.org/drawingml/2006/main">
            <a:off x="9048750" y="3390900"/>
            <a:ext cx="1790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A7ACA5"/>
                </a:solidFill>
              </a:defRPr>
            </a:pPr>
            <a:r>
              <a:rPr sz="1200" b="0">
                <a:solidFill>
                  <a:srgbClr val="A7ACA5"/>
                </a:solidFill>
              </a:rPr>
              <a:t>Accept · recover · call · invest</a:t>
            </a:r>
          </a:p>
        </p:txBody>
      </p:sp>
      <p:sp>
        <p:nvSpPr>
          <p:cNvPr id="24" name="">
            <a:extLst xmlns:a="http://schemas.openxmlformats.org/drawingml/2006/main">
              <a:ext uri="{FF2B5EF4-FFF2-40B4-BE49-F238E27FC236}">
                <a16:creationId xmlns:a16="http://schemas.microsoft.com/office/drawing/2014/main" id="{8B7145E4-2507-419A-95BC-D497AE43B02F}"/>
              </a:ext>
            </a:extLst>
          </p:cNvPr>
          <p:cNvSpPr>
            <a:spLocks xmlns:a="http://schemas.openxmlformats.org/drawingml/2006/main" noGrp="1"/>
          </p:cNvSpPr>
          <p:nvPr/>
        </p:nvSpPr>
        <p:spPr>
          <a:xfrm xmlns:a="http://schemas.openxmlformats.org/drawingml/2006/main">
            <a:off x="609600" y="45529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4F0E6"/>
                </a:solidFill>
              </a:defRPr>
            </a:pPr>
            <a:r>
              <a:rPr sz="1500" b="1">
                <a:solidFill>
                  <a:srgbClr val="F4F0E6"/>
                </a:solidFill>
              </a:rPr>
              <a:t>Production path</a:t>
            </a:r>
          </a:p>
        </p:txBody>
      </p:sp>
      <p:sp>
        <p:nvSpPr>
          <p:cNvPr id="25" name="">
            <a:extLst xmlns:a="http://schemas.openxmlformats.org/drawingml/2006/main">
              <a:ext uri="{FF2B5EF4-FFF2-40B4-BE49-F238E27FC236}">
                <a16:creationId xmlns:a16="http://schemas.microsoft.com/office/drawing/2014/main" id="{C1105697-DD5C-4822-A9DC-17DD938BF730}"/>
              </a:ext>
            </a:extLst>
          </p:cNvPr>
          <p:cNvSpPr>
            <a:spLocks xmlns:a="http://schemas.openxmlformats.org/drawingml/2006/main" noGrp="1"/>
          </p:cNvSpPr>
          <p:nvPr/>
        </p:nvSpPr>
        <p:spPr>
          <a:xfrm xmlns:a="http://schemas.openxmlformats.org/drawingml/2006/main">
            <a:off x="609600" y="4991100"/>
            <a:ext cx="10858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A7ACA5"/>
                </a:solidFill>
              </a:defRPr>
            </a:pPr>
            <a:r>
              <a:rPr sz="1350" b="0">
                <a:solidFill>
                  <a:srgbClr val="A7ACA5"/>
                </a:solidFill>
              </a:rPr>
              <a:t>ERP / MES / CMMS integration  ·  PostgreSQL + queued solve workers  ·  RBAC and audit  ·  calibrated costs and uncertainty  ·  shadow-mode validation</a:t>
            </a:r>
          </a:p>
        </p:txBody>
      </p:sp>
      <p:sp>
        <p:nvSpPr>
          <p:cNvPr id="26" name="">
            <a:extLst xmlns:a="http://schemas.openxmlformats.org/drawingml/2006/main">
              <a:ext uri="{FF2B5EF4-FFF2-40B4-BE49-F238E27FC236}">
                <a16:creationId xmlns:a16="http://schemas.microsoft.com/office/drawing/2014/main" id="{3497A72E-36D1-4808-ACE2-5B41ED7665BF}"/>
              </a:ext>
            </a:extLst>
          </p:cNvPr>
          <p:cNvSpPr>
            <a:spLocks xmlns:a="http://schemas.openxmlformats.org/drawingml/2006/main" noGrp="1"/>
          </p:cNvSpPr>
          <p:nvPr/>
        </p:nvSpPr>
        <p:spPr>
          <a:xfrm xmlns:a="http://schemas.openxmlformats.org/drawingml/2006/main">
            <a:off x="609600" y="5962650"/>
            <a:ext cx="10972800" cy="0"/>
          </a:xfrm>
          <a:prstGeom xmlns:a="http://schemas.openxmlformats.org/drawingml/2006/main" prst="line">
            <a:avLst/>
          </a:prstGeom>
          <a:noFill xmlns:a="http://schemas.openxmlformats.org/drawingml/2006/main"/>
          <a:ln xmlns:a="http://schemas.openxmlformats.org/drawingml/2006/main" w="9525">
            <a:solidFill>
              <a:srgbClr val="303731"/>
            </a:solidFill>
            <a:prstDash val="solid"/>
          </a:ln>
        </p:spPr>
      </p:sp>
      <p:sp>
        <p:nvSpPr>
          <p:cNvPr id="27" name="">
            <a:extLst xmlns:a="http://schemas.openxmlformats.org/drawingml/2006/main">
              <a:ext uri="{FF2B5EF4-FFF2-40B4-BE49-F238E27FC236}">
                <a16:creationId xmlns:a16="http://schemas.microsoft.com/office/drawing/2014/main" id="{BF65C401-F8CF-474E-869F-9F1B114A1241}"/>
              </a:ext>
            </a:extLst>
          </p:cNvPr>
          <p:cNvSpPr>
            <a:spLocks xmlns:a="http://schemas.openxmlformats.org/drawingml/2006/main" noGrp="1"/>
          </p:cNvSpPr>
          <p:nvPr/>
        </p:nvSpPr>
        <p:spPr>
          <a:xfrm xmlns:a="http://schemas.openxmlformats.org/drawingml/2006/main">
            <a:off x="609600" y="619125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E2C48C"/>
                </a:solidFill>
              </a:defRPr>
            </a:pPr>
            <a:r>
              <a:rPr sz="1350" b="1">
                <a:solidFill>
                  <a:srgbClr val="E2C48C"/>
                </a:solidFill>
              </a:rPr>
              <a:t>SmartForge is decision support—not autonomous machine control.</a:t>
            </a:r>
          </a:p>
        </p:txBody>
      </p:sp>
    </p:spTree>
    <p:extLst>
      <p:ext uri="{BB962C8B-B14F-4D97-AF65-F5344CB8AC3E}">
        <p14:creationId xmlns:p14="http://schemas.microsoft.com/office/powerpoint/2010/main" val="6540459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2026-08-27T09:10:56.5720000Z</dcterms:created>
  <dcterms:modified xsi:type="dcterms:W3CDTF">2026-08-27T09:10:56.5720000Z</dcterms:modified>
</coreProperties>
</file>